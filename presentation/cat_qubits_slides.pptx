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6eb57e-52cc-672d-f1c8-a9b23e7288f0}">
          <p14:sldIdLst>
            <p14:sldId id="256"/>
            <p14:sldId id="257"/>
          </p14:sldIdLst>
        </p14:section>
        <p14:section name="Introductory Track" id="{3734b6c0-f1b9-bb84-f90e-eb970b7b6956}">
          <p14:sldIdLst>
            <p14:sldId id="258"/>
            <p14:sldId id="259"/>
            <p14:sldId id="260"/>
          </p14:sldIdLst>
        </p14:section>
        <p14:section name="Standard Track" id="{cec7e851-0ce9-dfaf-aa16-74da3839f222}">
          <p14:sldIdLst>
            <p14:sldId id="261"/>
            <p14:sldId id="262"/>
            <p14:sldId id="263"/>
            <p14:sldId id="264"/>
          </p14:sldIdLst>
        </p14:section>
        <p14:section name="Bonus" id="{dddc2841-2f88-789f-38ba-8dc7915cb53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We entered the Introductory Track, finished every task, then pushed into the Standard Track readout problem. The image behind us is our own simulation: the cat state, two blobs with interference fringes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memory holds the cat. The buffer exchanges photons with it two at a time and leaks quickly, so the memory only loses photons in pairs. That pins it to two coherent states, plus and minus alpha, our logical 0 and 1. Bigger cats make bit flips exponentially rarer, but phase flips only grow linearly. That bias is the whole point of cat qubits.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Three steps. One-photon loss just shrinks a coherent state, and we match the analytic curve. Pair loss alone gets stuck, because a-squared can never remove the last odd photon, so it stops at the odd-parity probability. Add the two-photon drive and it becomes a stabilizer: every kappa-2 lands on alpha squared = 4.41, it only changes how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With a real buffer the memory overshoots to almost 7 photons before ringing down to 4.40. The effective model can't show this: g2/kappa_b is 0.29 and eps_d/kappa_b is 1.29, so the buffer isn't fast. The buffer briefly holds about 2 photons, so the suggested Nb = 6 misses the overshoot peak by 11.5%. We swept each cutoff separately: the steady state converges right away, the transient needs Na &gt;= 32 and Nb &gt;=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From vacuum we get the even cat, not one codeword: the stabilizer only moves photons in pairs, so parity stays +1 except for slow kappa_a loss. Fidelity hits 0.844, far above the 0.5 a classical mixture could reach, and the Wigner fringes go negative. It stays a cat for about 2 μs. For a definite bit, we seed a small displacement before inflating: seed 1.5 gives 99.9% fidelity. The cost is a phase-calibrated memory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Bit flips: Re&lt;a&gt; decays slowly, and we fit it, then confirm with the slowest eigenvalue of the full two-mode generator and a qutip solve. The log-slope is gamma = 2.95: exponential suppression. Phase flips: parity decays at 2 kappa_a alpha squared, our slope matches to 0.2%. So bigger cats trade an exponential win on bit flips for a linear loss on phase flips.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A weak memory drive pushes each well sideways, and the buffer answers with opposite signs for +alpha and -alpha. That difference is the readout. It matches the linear estimate and settles in about 0.8 μs, with ringing because the buffer isn't fast. The catch: driving harder gives more contrast but bit flips speed up roughly 350 times. The measurement disturbs what it measures. That's what Task 2.4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our own idea. Stage 1: temporarily raise the buffer drive by 45%, so the cat breathes outward and the two wells are further apart, which makes the buffer signal louder. Stage 2: a bigger cat means more photons, and through cross-Kerr that shifts the buffer frequency. If you ignore it, the readout phase drifts. So the pump, the buffer drive and the homodyne reference all chirp together to track the estimated shift. Stage 3: we listen to the ringdown with a matched filter. Result: 20% less damage than a matched flat pulse, and it beats either knob alone. But active decay is still 1.67 times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Top left: at equal information, the combined pulse (green) has the lowest damage, below breathing-only, detuning-only and flat. Top middle and right: across repeated cycles, extra decay drops 89%. Bottom: the honest audit with full noisy trajectories. After 21 μs we read with 1.37% error, but the matched flat pulse gets 0.88%, so we haven't shown better accuracy. And active decay is 1.67 times idle, above our 1.10 limit, so it doesn't yet preserve protection. Lower damage is real; a readout that fully preserves the cat is the open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 including the live demo. Watchcat came out of Task 1.2: we kept asking whether a result was physics or truncation. It checks edge populations, trace, convergence across the full time trace, and the alpha-squared target. Demo: click the cat, show final population ~4.402 vs 4.41, transient peak ~6.85, edge population 0.00267. It's worried, because the reference isn't safely truncated, so it won't recommend a cheaper run. Open Wigner, then Run sweep to show the real pipeline. Don't claim compute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4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5120640" cy="36576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1828800"/>
            <a:ext cx="51206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5120640" cy="91440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4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wigner" descr="Wigner function of the simulated even cat state after inflation in the full two-mode model">    </p:cNvPr>
          <p:cNvPicPr>
            <a:picLocks noChangeAspect="1"/>
          </p:cNvPicPr>
          <p:nvPr/>
        </p:nvPicPr>
        <p:blipFill>
          <a:blip r:embed="rId1"/>
          <a:stretch>
            <a:fillRect/>
          </a:stretch>
        </p:blipFill>
        <p:spPr>
          <a:xfrm>
            <a:off x="5330952" y="0"/>
            <a:ext cx="6858000" cy="6858000"/>
          </a:xfrm>
          <a:prstGeom prst="rect">
            <a:avLst/>
          </a:prstGeom>
        </p:spPr>
      </p:pic>
      <p:sp>
        <p:nvSpPr>
          <p:cNvPr id="3" name="Text 0"/>
          <p:cNvSpPr/>
          <p:nvPr>
            <p:ph idx="100" type="body" hasCustomPrompt="1"/>
          </p:nvPr>
        </p:nvSpPr>
        <p:spPr>
          <a:xfrm>
            <a:off x="548640" y="1371600"/>
            <a:ext cx="5120640" cy="365760"/>
          </a:xfrm>
          <a:prstGeom prst="rect">
            <a:avLst/>
          </a:prstGeom>
          <a:noFill/>
          <a:ln/>
        </p:spPr>
        <p:txBody>
          <a:bodyPr wrap="square" lIns="0" tIns="0" rIns="0" bIns="0" rtlCol="0"/>
          <a:lstStyle/>
          <a:p>
            <a:pPr algn="l" indent="0" marL="0">
              <a:buNone/>
            </a:pPr>
            <a:r>
              <a:rPr lang="en-US" sz="1300" b="1" spc="200" kern="0" dirty="0">
                <a:solidFill>
                  <a:schemeClr val="accent1"/>
                </a:solidFill>
              </a:rPr>
              <a:t>ALICE &amp; BOB CHALLENGE · DUQUANTUM 2026</a:t>
            </a:r>
            <a:endParaRPr lang="en-US" sz="1300" dirty="0"/>
          </a:p>
        </p:txBody>
      </p:sp>
      <p:sp>
        <p:nvSpPr>
          <p:cNvPr id="4" name="Text 0"/>
          <p:cNvSpPr/>
          <p:nvPr>
            <p:ph idx="101" type="title" hasCustomPrompt="1"/>
          </p:nvPr>
        </p:nvSpPr>
        <p:spPr>
          <a:xfrm>
            <a:off x="548640" y="1828800"/>
            <a:ext cx="5120640" cy="2011680"/>
          </a:xfrm>
          <a:prstGeom prst="rect">
            <a:avLst/>
          </a:prstGeom>
          <a:noFill/>
          <a:ln/>
        </p:spPr>
        <p:txBody>
          <a:bodyPr wrap="square" lIns="0" tIns="0" rIns="0" bIns="0" rtlCol="0" anchor="t"/>
          <a:lstStyle/>
          <a:p>
            <a:pPr algn="l" indent="0" marL="0">
              <a:buNone/>
            </a:pPr>
            <a:r>
              <a:rPr lang="en-US" sz="4400" b="1" dirty="0">
                <a:solidFill>
                  <a:schemeClr val="bg1"/>
                </a:solidFill>
              </a:rPr>
              <a:t>From Cat Stabilization to Quantum Readout</a:t>
            </a:r>
            <a:endParaRPr lang="en-US" sz="4400" dirty="0"/>
          </a:p>
        </p:txBody>
      </p:sp>
      <p:sp>
        <p:nvSpPr>
          <p:cNvPr id="5" name="Text 0"/>
          <p:cNvSpPr/>
          <p:nvPr>
            <p:ph idx="102" type="body" hasCustomPrompt="1"/>
          </p:nvPr>
        </p:nvSpPr>
        <p:spPr>
          <a:xfrm>
            <a:off x="548640" y="3977640"/>
            <a:ext cx="5120640" cy="914400"/>
          </a:xfrm>
          <a:prstGeom prst="rect">
            <a:avLst/>
          </a:prstGeom>
          <a:noFill/>
          <a:ln/>
        </p:spPr>
        <p:txBody>
          <a:bodyPr wrap="square" lIns="0" tIns="0" rIns="0" bIns="0" rtlCol="0" anchor="t"/>
          <a:lstStyle/>
          <a:p>
            <a:pPr algn="l" indent="0" marL="0">
              <a:buNone/>
            </a:pPr>
            <a:r>
              <a:rPr lang="en-US" sz="1800" dirty="0">
                <a:solidFill>
                  <a:schemeClr val="accent2"/>
                </a:solidFill>
              </a:rPr>
              <a:t>Introductory Track complete, extended into the Standard Track</a:t>
            </a:r>
            <a:endParaRPr lang="en-US" sz="1800" dirty="0"/>
          </a:p>
        </p:txBody>
      </p:sp>
      <p:sp>
        <p:nvSpPr>
          <p:cNvPr id="6" name="team"/>
          <p:cNvSpPr txBox="1"/>
          <p:nvPr/>
        </p:nvSpPr>
        <p:spPr>
          <a:xfrm>
            <a:off x="548640" y="5212080"/>
            <a:ext cx="4754880" cy="365760"/>
          </a:xfrm>
          <a:prstGeom prst="rect">
            <a:avLst/>
          </a:prstGeom>
          <a:noFill/>
          <a:ln/>
        </p:spPr>
        <p:txBody>
          <a:bodyPr wrap="square" lIns="0" tIns="0" rIns="0" bIns="0" rtlCol="0" anchor="ctr"/>
          <a:lstStyle/>
          <a:p>
            <a:pPr indent="0" marL="0">
              <a:buNone/>
            </a:pPr>
            <a:r>
              <a:rPr lang="en-US" sz="1600" b="1" dirty="0">
                <a:solidFill>
                  <a:schemeClr val="bg1"/>
                </a:solidFill>
              </a:rPr>
              <a:t>Simran Malik</a:t>
            </a:r>
            <a:endParaRPr lang="en-US" sz="1600" dirty="0"/>
          </a:p>
        </p:txBody>
      </p:sp>
      <p:sp>
        <p:nvSpPr>
          <p:cNvPr id="7" name="hero-caption"/>
          <p:cNvSpPr txBox="1"/>
          <p:nvPr/>
        </p:nvSpPr>
        <p:spPr>
          <a:xfrm>
            <a:off x="548640" y="6172200"/>
            <a:ext cx="5120640" cy="365760"/>
          </a:xfrm>
          <a:prstGeom prst="rect">
            <a:avLst/>
          </a:prstGeom>
          <a:noFill/>
          <a:ln/>
        </p:spPr>
        <p:txBody>
          <a:bodyPr wrap="square" lIns="0" tIns="0" rIns="0" bIns="0" rtlCol="0" anchor="ctr"/>
          <a:lstStyle/>
          <a:p>
            <a:pPr indent="0" marL="0">
              <a:buNone/>
            </a:pPr>
            <a:r>
              <a:rPr lang="en-US" sz="1100" dirty="0">
                <a:solidFill>
                  <a:schemeClr val="bg2"/>
                </a:solidFill>
              </a:rPr>
              <a:t>Background: Wigner function of our simulated cat, full memory + buffer model, t = 1 μs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THE PHYSICS</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Why cat qubits?</a:t>
            </a:r>
            <a:endParaRPr lang="en-US" sz="3200" dirty="0"/>
          </a:p>
        </p:txBody>
      </p:sp>
      <p:sp>
        <p:nvSpPr>
          <p:cNvPr id="4" name="card-1"/>
          <p:cNvSpPr/>
          <p:nvPr/>
        </p:nvSpPr>
        <p:spPr>
          <a:xfrm>
            <a:off x="548640" y="1417320"/>
            <a:ext cx="11064240" cy="3063240"/>
          </a:xfrm>
          <a:prstGeom prst="roundRect">
            <a:avLst>
              <a:gd name="adj" fmla="val 2985"/>
            </a:avLst>
          </a:prstGeom>
          <a:solidFill>
            <a:schemeClr val="tx2"/>
          </a:solidFill>
          <a:ln/>
        </p:spPr>
      </p:sp>
      <p:sp>
        <p:nvSpPr>
          <p:cNvPr id="5" name="memory"/>
          <p:cNvSpPr/>
          <p:nvPr/>
        </p:nvSpPr>
        <p:spPr>
          <a:xfrm>
            <a:off x="1280160" y="1828800"/>
            <a:ext cx="2103120" cy="2103120"/>
          </a:xfrm>
          <a:prstGeom prst="ellipse">
            <a:avLst/>
          </a:prstGeom>
          <a:solidFill>
            <a:schemeClr val="tx1"/>
          </a:solidFill>
          <a:ln w="38100">
            <a:solidFill>
              <a:schemeClr val="accent1"/>
            </a:solidFill>
            <a:prstDash val="solid"/>
          </a:ln>
        </p:spPr>
      </p:sp>
      <p:sp>
        <p:nvSpPr>
          <p:cNvPr id="6" name="memory-label"/>
          <p:cNvSpPr txBox="1"/>
          <p:nvPr/>
        </p:nvSpPr>
        <p:spPr>
          <a:xfrm>
            <a:off x="1280160" y="1828800"/>
            <a:ext cx="2103120" cy="2103120"/>
          </a:xfrm>
          <a:prstGeom prst="rect">
            <a:avLst/>
          </a:prstGeom>
          <a:noFill/>
          <a:ln/>
        </p:spPr>
        <p:txBody>
          <a:bodyPr wrap="square" lIns="0" tIns="0" rIns="0" bIns="0" rtlCol="0" anchor="ctr"/>
          <a:lstStyle/>
          <a:p>
            <a:pPr algn="ctr" indent="0" marL="0">
              <a:buNone/>
            </a:pPr>
            <a:r>
              <a:rPr lang="en-US" sz="2000" b="1" dirty="0">
                <a:solidFill>
                  <a:schemeClr val="accent1"/>
                </a:solidFill>
              </a:rPr>
              <a:t>Memory  a</a:t>
            </a:r>
            <a:endParaRPr lang="en-US" sz="2000" dirty="0"/>
          </a:p>
          <a:p>
            <a:pPr algn="ctr" indent="0" marL="0">
              <a:buNone/>
            </a:pPr>
            <a:r>
              <a:rPr lang="en-US" sz="1300" dirty="0">
                <a:solidFill>
                  <a:schemeClr val="bg2"/>
                </a:solidFill>
              </a:rPr>
              <a:t>stores the cat</a:t>
            </a:r>
            <a:endParaRPr lang="en-US" sz="2000" dirty="0"/>
          </a:p>
        </p:txBody>
      </p:sp>
      <p:sp>
        <p:nvSpPr>
          <p:cNvPr id="7" name="buffer"/>
          <p:cNvSpPr/>
          <p:nvPr/>
        </p:nvSpPr>
        <p:spPr>
          <a:xfrm>
            <a:off x="6126480" y="1828800"/>
            <a:ext cx="2103120" cy="2103120"/>
          </a:xfrm>
          <a:prstGeom prst="ellipse">
            <a:avLst/>
          </a:prstGeom>
          <a:solidFill>
            <a:schemeClr val="tx1"/>
          </a:solidFill>
          <a:ln w="38100">
            <a:solidFill>
              <a:schemeClr val="accent2"/>
            </a:solidFill>
            <a:prstDash val="solid"/>
          </a:ln>
        </p:spPr>
      </p:sp>
      <p:sp>
        <p:nvSpPr>
          <p:cNvPr id="8" name="buffer-label"/>
          <p:cNvSpPr txBox="1"/>
          <p:nvPr/>
        </p:nvSpPr>
        <p:spPr>
          <a:xfrm>
            <a:off x="6126480" y="1828800"/>
            <a:ext cx="2103120" cy="2103120"/>
          </a:xfrm>
          <a:prstGeom prst="rect">
            <a:avLst/>
          </a:prstGeom>
          <a:noFill/>
          <a:ln/>
        </p:spPr>
        <p:txBody>
          <a:bodyPr wrap="square" lIns="0" tIns="0" rIns="0" bIns="0" rtlCol="0" anchor="ctr"/>
          <a:lstStyle/>
          <a:p>
            <a:pPr algn="ctr" indent="0" marL="0">
              <a:buNone/>
            </a:pPr>
            <a:r>
              <a:rPr lang="en-US" sz="2000" b="1" dirty="0">
                <a:solidFill>
                  <a:schemeClr val="accent2"/>
                </a:solidFill>
              </a:rPr>
              <a:t>Buffer  b</a:t>
            </a:r>
            <a:endParaRPr lang="en-US" sz="2000" dirty="0"/>
          </a:p>
          <a:p>
            <a:pPr algn="ctr" indent="0" marL="0">
              <a:buNone/>
            </a:pPr>
            <a:r>
              <a:rPr lang="en-US" sz="1300" dirty="0">
                <a:solidFill>
                  <a:schemeClr val="bg2"/>
                </a:solidFill>
              </a:rPr>
              <a:t>leaks fast</a:t>
            </a:r>
            <a:endParaRPr lang="en-US" sz="2000" dirty="0"/>
          </a:p>
        </p:txBody>
      </p:sp>
      <p:sp>
        <p:nvSpPr>
          <p:cNvPr id="9" name="exchange-arrow"/>
          <p:cNvSpPr/>
          <p:nvPr/>
        </p:nvSpPr>
        <p:spPr>
          <a:xfrm>
            <a:off x="3520440" y="2880360"/>
            <a:ext cx="2468880" cy="0"/>
          </a:xfrm>
          <a:prstGeom prst="line">
            <a:avLst/>
          </a:prstGeom>
          <a:noFill/>
          <a:ln w="31750">
            <a:solidFill>
              <a:schemeClr val="bg1"/>
            </a:solidFill>
            <a:prstDash val="solid"/>
            <a:headEnd type="triangle"/>
            <a:tailEnd type="triangle"/>
          </a:ln>
        </p:spPr>
      </p:sp>
      <p:sp>
        <p:nvSpPr>
          <p:cNvPr id="10" name="exchange-label"/>
          <p:cNvSpPr txBox="1"/>
          <p:nvPr/>
        </p:nvSpPr>
        <p:spPr>
          <a:xfrm>
            <a:off x="3520440" y="2057400"/>
            <a:ext cx="2468880" cy="731520"/>
          </a:xfrm>
          <a:prstGeom prst="rect">
            <a:avLst/>
          </a:prstGeom>
          <a:noFill/>
          <a:ln/>
        </p:spPr>
        <p:txBody>
          <a:bodyPr wrap="square" lIns="0" tIns="0" rIns="0" bIns="0" rtlCol="0" anchor="b"/>
          <a:lstStyle/>
          <a:p>
            <a:pPr algn="ctr" indent="0" marL="0">
              <a:buNone/>
            </a:pPr>
            <a:r>
              <a:rPr lang="en-US" sz="1500" b="1" dirty="0">
                <a:solidFill>
                  <a:schemeClr val="bg1"/>
                </a:solidFill>
              </a:rPr>
              <a:t>g₂ (a²b† + h.c.)</a:t>
            </a:r>
            <a:endParaRPr lang="en-US" sz="1500" dirty="0"/>
          </a:p>
          <a:p>
            <a:pPr algn="ctr" indent="0" marL="0">
              <a:buNone/>
            </a:pPr>
            <a:r>
              <a:rPr lang="en-US" sz="1200" dirty="0">
                <a:solidFill>
                  <a:schemeClr val="bg2"/>
                </a:solidFill>
              </a:rPr>
              <a:t>photons swap in pairs</a:t>
            </a:r>
            <a:endParaRPr lang="en-US" sz="1500" dirty="0"/>
          </a:p>
        </p:txBody>
      </p:sp>
      <p:sp>
        <p:nvSpPr>
          <p:cNvPr id="11" name="loss-arrow"/>
          <p:cNvSpPr/>
          <p:nvPr/>
        </p:nvSpPr>
        <p:spPr>
          <a:xfrm>
            <a:off x="8366760" y="2880360"/>
            <a:ext cx="1188720" cy="0"/>
          </a:xfrm>
          <a:prstGeom prst="line">
            <a:avLst/>
          </a:prstGeom>
          <a:noFill/>
          <a:ln w="31750">
            <a:solidFill>
              <a:schemeClr val="accent2"/>
            </a:solidFill>
            <a:prstDash val="solid"/>
            <a:tailEnd type="triangle"/>
          </a:ln>
        </p:spPr>
      </p:sp>
      <p:sp>
        <p:nvSpPr>
          <p:cNvPr id="12" name="loss-label"/>
          <p:cNvSpPr txBox="1"/>
          <p:nvPr/>
        </p:nvSpPr>
        <p:spPr>
          <a:xfrm>
            <a:off x="9646920" y="2468880"/>
            <a:ext cx="1828800" cy="822960"/>
          </a:xfrm>
          <a:prstGeom prst="rect">
            <a:avLst/>
          </a:prstGeom>
          <a:noFill/>
          <a:ln/>
        </p:spPr>
        <p:txBody>
          <a:bodyPr wrap="square" lIns="0" tIns="0" rIns="0" bIns="0" rtlCol="0" anchor="ctr"/>
          <a:lstStyle/>
          <a:p>
            <a:pPr indent="0" marL="0">
              <a:buNone/>
            </a:pPr>
            <a:r>
              <a:rPr lang="en-US" sz="1500" b="1" dirty="0">
                <a:solidFill>
                  <a:schemeClr val="accent2"/>
                </a:solidFill>
              </a:rPr>
              <a:t>κb loss</a:t>
            </a:r>
            <a:endParaRPr lang="en-US" sz="1500" dirty="0"/>
          </a:p>
          <a:p>
            <a:pPr indent="0" marL="0">
              <a:buNone/>
            </a:pPr>
            <a:r>
              <a:rPr lang="en-US" sz="1200" dirty="0">
                <a:solidFill>
                  <a:schemeClr val="bg2"/>
                </a:solidFill>
              </a:rPr>
              <a:t>to the readout line</a:t>
            </a:r>
            <a:endParaRPr lang="en-US" sz="1500" dirty="0"/>
          </a:p>
        </p:txBody>
      </p:sp>
      <p:sp>
        <p:nvSpPr>
          <p:cNvPr id="13" name="drive-label"/>
          <p:cNvSpPr txBox="1"/>
          <p:nvPr/>
        </p:nvSpPr>
        <p:spPr>
          <a:xfrm>
            <a:off x="5669280" y="4005072"/>
            <a:ext cx="3017520" cy="320040"/>
          </a:xfrm>
          <a:prstGeom prst="rect">
            <a:avLst/>
          </a:prstGeom>
          <a:noFill/>
          <a:ln/>
        </p:spPr>
        <p:txBody>
          <a:bodyPr wrap="square" lIns="0" tIns="0" rIns="0" bIns="0" rtlCol="0" anchor="ctr"/>
          <a:lstStyle/>
          <a:p>
            <a:pPr algn="ctr" indent="0" marL="0">
              <a:buNone/>
            </a:pPr>
            <a:r>
              <a:rPr lang="en-US" sz="1300" b="1" dirty="0">
                <a:solidFill>
                  <a:schemeClr val="bg1"/>
                </a:solidFill>
              </a:rPr>
              <a:t>εd drive</a:t>
            </a:r>
            <a:pPr algn="ctr" indent="0" marL="0">
              <a:buNone/>
            </a:pPr>
            <a:r>
              <a:rPr lang="en-US" sz="1200" dirty="0">
                <a:solidFill>
                  <a:schemeClr val="bg2"/>
                </a:solidFill>
              </a:rPr>
              <a:t>  sets α² = εd / g₂</a:t>
            </a:r>
            <a:endParaRPr lang="en-US" sz="1300" dirty="0"/>
          </a:p>
        </p:txBody>
      </p:sp>
      <p:sp>
        <p:nvSpPr>
          <p:cNvPr id="14" name="memloss-label"/>
          <p:cNvSpPr txBox="1"/>
          <p:nvPr/>
        </p:nvSpPr>
        <p:spPr>
          <a:xfrm>
            <a:off x="822960" y="4005072"/>
            <a:ext cx="3017520" cy="320040"/>
          </a:xfrm>
          <a:prstGeom prst="rect">
            <a:avLst/>
          </a:prstGeom>
          <a:noFill/>
          <a:ln/>
        </p:spPr>
        <p:txBody>
          <a:bodyPr wrap="square" lIns="0" tIns="0" rIns="0" bIns="0" rtlCol="0" anchor="ctr"/>
          <a:lstStyle/>
          <a:p>
            <a:pPr algn="ctr" indent="0" marL="0">
              <a:buNone/>
            </a:pPr>
            <a:r>
              <a:rPr lang="en-US" sz="1300" b="1" dirty="0">
                <a:solidFill>
                  <a:schemeClr val="accent4"/>
                </a:solidFill>
              </a:rPr>
              <a:t>κa loss</a:t>
            </a:r>
            <a:pPr algn="ctr" indent="0" marL="0">
              <a:buNone/>
            </a:pPr>
            <a:r>
              <a:rPr lang="en-US" sz="1200" dirty="0">
                <a:solidFill>
                  <a:schemeClr val="bg2"/>
                </a:solidFill>
              </a:rPr>
              <a:t>  the unwanted part</a:t>
            </a:r>
            <a:endParaRPr lang="en-US" sz="1300" dirty="0"/>
          </a:p>
        </p:txBody>
      </p:sp>
      <p:sp>
        <p:nvSpPr>
          <p:cNvPr id="15" name="card-2"/>
          <p:cNvSpPr/>
          <p:nvPr/>
        </p:nvSpPr>
        <p:spPr>
          <a:xfrm>
            <a:off x="548640" y="4709160"/>
            <a:ext cx="3474720" cy="1508760"/>
          </a:xfrm>
          <a:prstGeom prst="roundRect">
            <a:avLst>
              <a:gd name="adj" fmla="val 6061"/>
            </a:avLst>
          </a:prstGeom>
          <a:solidFill>
            <a:schemeClr val="tx2"/>
          </a:solidFill>
          <a:ln/>
        </p:spPr>
      </p:sp>
      <p:sp>
        <p:nvSpPr>
          <p:cNvPr id="16" name="physics-label-0"/>
          <p:cNvSpPr txBox="1"/>
          <p:nvPr/>
        </p:nvSpPr>
        <p:spPr>
          <a:xfrm>
            <a:off x="777240" y="4800600"/>
            <a:ext cx="3017520" cy="1325880"/>
          </a:xfrm>
          <a:prstGeom prst="rect">
            <a:avLst/>
          </a:prstGeom>
          <a:noFill/>
          <a:ln/>
        </p:spPr>
        <p:txBody>
          <a:bodyPr wrap="square" lIns="0" tIns="0" rIns="0" bIns="0" rtlCol="0" anchor="ctr"/>
          <a:lstStyle/>
          <a:p>
            <a:pPr indent="0" marL="0">
              <a:spcAft>
                <a:spcPts val="400"/>
              </a:spcAft>
              <a:buNone/>
            </a:pPr>
            <a:r>
              <a:rPr lang="en-US" sz="2000" b="1" dirty="0">
                <a:solidFill>
                  <a:schemeClr val="accent1"/>
                </a:solidFill>
              </a:rPr>
              <a:t>|+α⟩ and |−α⟩</a:t>
            </a:r>
            <a:endParaRPr lang="en-US" sz="2000" dirty="0"/>
          </a:p>
          <a:p>
            <a:pPr indent="0" marL="0">
              <a:spcAft>
                <a:spcPts val="400"/>
              </a:spcAft>
              <a:buNone/>
            </a:pPr>
            <a:r>
              <a:rPr lang="en-US" sz="1400" dirty="0">
                <a:solidFill>
                  <a:schemeClr val="bg1"/>
                </a:solidFill>
              </a:rPr>
              <a:t>Two stable wells are the logical 0 and 1</a:t>
            </a:r>
            <a:endParaRPr lang="en-US" sz="2000" dirty="0"/>
          </a:p>
        </p:txBody>
      </p:sp>
      <p:sp>
        <p:nvSpPr>
          <p:cNvPr id="17" name="card-3"/>
          <p:cNvSpPr/>
          <p:nvPr/>
        </p:nvSpPr>
        <p:spPr>
          <a:xfrm>
            <a:off x="4343400" y="4709160"/>
            <a:ext cx="3474720" cy="1508760"/>
          </a:xfrm>
          <a:prstGeom prst="roundRect">
            <a:avLst>
              <a:gd name="adj" fmla="val 6061"/>
            </a:avLst>
          </a:prstGeom>
          <a:solidFill>
            <a:schemeClr val="tx2"/>
          </a:solidFill>
          <a:ln/>
        </p:spPr>
      </p:sp>
      <p:sp>
        <p:nvSpPr>
          <p:cNvPr id="18" name="physics-label-1"/>
          <p:cNvSpPr txBox="1"/>
          <p:nvPr/>
        </p:nvSpPr>
        <p:spPr>
          <a:xfrm>
            <a:off x="4572000" y="4800600"/>
            <a:ext cx="3017520" cy="1325880"/>
          </a:xfrm>
          <a:prstGeom prst="rect">
            <a:avLst/>
          </a:prstGeom>
          <a:noFill/>
          <a:ln/>
        </p:spPr>
        <p:txBody>
          <a:bodyPr wrap="square" lIns="0" tIns="0" rIns="0" bIns="0" rtlCol="0" anchor="ctr"/>
          <a:lstStyle/>
          <a:p>
            <a:pPr indent="0" marL="0">
              <a:spcAft>
                <a:spcPts val="400"/>
              </a:spcAft>
              <a:buNone/>
            </a:pPr>
            <a:r>
              <a:rPr lang="en-US" sz="2000" b="1" dirty="0">
                <a:solidFill>
                  <a:schemeClr val="accent1"/>
                </a:solidFill>
              </a:rPr>
              <a:t>Bit flips  ∝ e^(−γα²)</a:t>
            </a:r>
            <a:endParaRPr lang="en-US" sz="2000" dirty="0"/>
          </a:p>
          <a:p>
            <a:pPr indent="0" marL="0">
              <a:spcAft>
                <a:spcPts val="400"/>
              </a:spcAft>
              <a:buNone/>
            </a:pPr>
            <a:r>
              <a:rPr lang="en-US" sz="1400" dirty="0">
                <a:solidFill>
                  <a:schemeClr val="bg1"/>
                </a:solidFill>
              </a:rPr>
              <a:t>Shrink exponentially as the cat grows</a:t>
            </a:r>
            <a:endParaRPr lang="en-US" sz="2000" dirty="0"/>
          </a:p>
        </p:txBody>
      </p:sp>
      <p:sp>
        <p:nvSpPr>
          <p:cNvPr id="19" name="card-4"/>
          <p:cNvSpPr/>
          <p:nvPr/>
        </p:nvSpPr>
        <p:spPr>
          <a:xfrm>
            <a:off x="8138160" y="4709160"/>
            <a:ext cx="3474720" cy="1508760"/>
          </a:xfrm>
          <a:prstGeom prst="roundRect">
            <a:avLst>
              <a:gd name="adj" fmla="val 6061"/>
            </a:avLst>
          </a:prstGeom>
          <a:solidFill>
            <a:schemeClr val="tx2"/>
          </a:solidFill>
          <a:ln/>
        </p:spPr>
      </p:sp>
      <p:sp>
        <p:nvSpPr>
          <p:cNvPr id="20" name="physics-label-2"/>
          <p:cNvSpPr txBox="1"/>
          <p:nvPr/>
        </p:nvSpPr>
        <p:spPr>
          <a:xfrm>
            <a:off x="8366760" y="4800600"/>
            <a:ext cx="3017520" cy="1325880"/>
          </a:xfrm>
          <a:prstGeom prst="rect">
            <a:avLst/>
          </a:prstGeom>
          <a:noFill/>
          <a:ln/>
        </p:spPr>
        <p:txBody>
          <a:bodyPr wrap="square" lIns="0" tIns="0" rIns="0" bIns="0" rtlCol="0" anchor="ctr"/>
          <a:lstStyle/>
          <a:p>
            <a:pPr indent="0" marL="0">
              <a:spcAft>
                <a:spcPts val="400"/>
              </a:spcAft>
              <a:buNone/>
            </a:pPr>
            <a:r>
              <a:rPr lang="en-US" sz="2000" b="1" dirty="0">
                <a:solidFill>
                  <a:schemeClr val="accent2"/>
                </a:solidFill>
              </a:rPr>
              <a:t>Phase flips  ∝ 2κa α²</a:t>
            </a:r>
            <a:endParaRPr lang="en-US" sz="2000" dirty="0"/>
          </a:p>
          <a:p>
            <a:pPr indent="0" marL="0">
              <a:spcAft>
                <a:spcPts val="400"/>
              </a:spcAft>
              <a:buNone/>
            </a:pPr>
            <a:r>
              <a:rPr lang="en-US" sz="1400" dirty="0">
                <a:solidFill>
                  <a:schemeClr val="bg1"/>
                </a:solidFill>
              </a:rPr>
              <a:t>Grow only linearly: the price of a bigger cat</a:t>
            </a:r>
            <a:endParaRPr lang="en-US" sz="2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INTRODUCTORY · TASK 1.0</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Engineering dissipation, one ingredient at a time</a:t>
            </a:r>
            <a:endParaRPr lang="en-US" sz="3200" dirty="0"/>
          </a:p>
        </p:txBody>
      </p:sp>
      <p:sp>
        <p:nvSpPr>
          <p:cNvPr id="4" name="figcard-5"/>
          <p:cNvSpPr/>
          <p:nvPr/>
        </p:nvSpPr>
        <p:spPr>
          <a:xfrm>
            <a:off x="548640" y="1371600"/>
            <a:ext cx="6035040" cy="2087835"/>
          </a:xfrm>
          <a:prstGeom prst="roundRect">
            <a:avLst>
              <a:gd name="adj" fmla="val 4380"/>
            </a:avLst>
          </a:prstGeom>
          <a:solidFill>
            <a:schemeClr val="bg1"/>
          </a:solidFill>
          <a:ln/>
        </p:spPr>
      </p:sp>
      <p:pic>
        <p:nvPicPr>
          <p:cNvPr id="5" name="fig-5" descr="Single-photon loss: simulated photon number and amplitude match the analytic curves">    </p:cNvPr>
          <p:cNvPicPr>
            <a:picLocks noChangeAspect="1"/>
          </p:cNvPicPr>
          <p:nvPr/>
        </p:nvPicPr>
        <p:blipFill>
          <a:blip r:embed="rId1"/>
          <a:stretch>
            <a:fillRect/>
          </a:stretch>
        </p:blipFill>
        <p:spPr>
          <a:xfrm>
            <a:off x="640080" y="1463040"/>
            <a:ext cx="5852160" cy="1904955"/>
          </a:xfrm>
          <a:prstGeom prst="rect">
            <a:avLst/>
          </a:prstGeom>
        </p:spPr>
      </p:pic>
      <p:sp>
        <p:nvSpPr>
          <p:cNvPr id="6" name="figcard-6"/>
          <p:cNvSpPr/>
          <p:nvPr/>
        </p:nvSpPr>
        <p:spPr>
          <a:xfrm>
            <a:off x="548640" y="3688035"/>
            <a:ext cx="4937760" cy="2518241"/>
          </a:xfrm>
          <a:prstGeom prst="roundRect">
            <a:avLst>
              <a:gd name="adj" fmla="val 3631"/>
            </a:avLst>
          </a:prstGeom>
          <a:solidFill>
            <a:schemeClr val="bg1"/>
          </a:solidFill>
          <a:ln/>
        </p:spPr>
      </p:sp>
      <p:pic>
        <p:nvPicPr>
          <p:cNvPr id="7" name="fig-6" descr="Pure two-photon loss: photon number stalls at the initial odd-parity probability">    </p:cNvPr>
          <p:cNvPicPr>
            <a:picLocks noChangeAspect="1"/>
          </p:cNvPicPr>
          <p:nvPr/>
        </p:nvPicPr>
        <p:blipFill>
          <a:blip r:embed="rId2"/>
          <a:stretch>
            <a:fillRect/>
          </a:stretch>
        </p:blipFill>
        <p:spPr>
          <a:xfrm>
            <a:off x="640080" y="3779475"/>
            <a:ext cx="4754880" cy="2335361"/>
          </a:xfrm>
          <a:prstGeom prst="rect">
            <a:avLst/>
          </a:prstGeom>
        </p:spPr>
      </p:pic>
      <p:sp>
        <p:nvSpPr>
          <p:cNvPr id="8" name="figcard-7"/>
          <p:cNvSpPr/>
          <p:nvPr/>
        </p:nvSpPr>
        <p:spPr>
          <a:xfrm>
            <a:off x="6675120" y="3688035"/>
            <a:ext cx="4937760" cy="2518241"/>
          </a:xfrm>
          <a:prstGeom prst="roundRect">
            <a:avLst>
              <a:gd name="adj" fmla="val 3631"/>
            </a:avLst>
          </a:prstGeom>
          <a:solidFill>
            <a:schemeClr val="bg1"/>
          </a:solidFill>
          <a:ln/>
        </p:spPr>
      </p:sp>
      <p:pic>
        <p:nvPicPr>
          <p:cNvPr id="9" name="fig-7" descr="Effective stabilization for three kappa2 values, all settling at alpha squared">    </p:cNvPr>
          <p:cNvPicPr>
            <a:picLocks noChangeAspect="1"/>
          </p:cNvPicPr>
          <p:nvPr/>
        </p:nvPicPr>
        <p:blipFill>
          <a:blip r:embed="rId3"/>
          <a:stretch>
            <a:fillRect/>
          </a:stretch>
        </p:blipFill>
        <p:spPr>
          <a:xfrm>
            <a:off x="6766560" y="3779475"/>
            <a:ext cx="4754880" cy="2335361"/>
          </a:xfrm>
          <a:prstGeom prst="rect">
            <a:avLst/>
          </a:prstGeom>
        </p:spPr>
      </p:pic>
      <p:sp>
        <p:nvSpPr>
          <p:cNvPr id="10" name="Text 5"/>
          <p:cNvSpPr txBox="1"/>
          <p:nvPr/>
        </p:nvSpPr>
        <p:spPr>
          <a:xfrm>
            <a:off x="6858000" y="1463040"/>
            <a:ext cx="4754880" cy="2103120"/>
          </a:xfrm>
          <a:prstGeom prst="rect">
            <a:avLst/>
          </a:prstGeom>
          <a:noFill/>
          <a:ln/>
        </p:spPr>
        <p:txBody>
          <a:bodyPr wrap="square" lIns="0" tIns="0" rIns="0" bIns="0" rtlCol="0" anchor="t"/>
          <a:lstStyle/>
          <a:p>
            <a:pPr indent="0" marL="0">
              <a:buNone/>
            </a:pPr>
            <a:r>
              <a:rPr lang="en-US" sz="1600" b="1" dirty="0">
                <a:solidFill>
                  <a:schemeClr val="accent1"/>
                </a:solidFill>
              </a:rPr>
              <a:t>(a) One-photon loss:</a:t>
            </a:r>
            <a:pPr indent="0" marL="0">
              <a:spcAft>
                <a:spcPts val="1000"/>
              </a:spcAft>
              <a:buNone/>
            </a:pPr>
            <a:r>
              <a:rPr lang="en-US" sz="1600" dirty="0">
                <a:solidFill>
                  <a:schemeClr val="bg1"/>
                </a:solidFill>
              </a:rPr>
              <a:t> matches the analytic decay to 2×10⁻¹¹ photons</a:t>
            </a:r>
            <a:endParaRPr lang="en-US" sz="1600" dirty="0"/>
          </a:p>
          <a:p>
            <a:pPr indent="0" marL="0">
              <a:buNone/>
            </a:pPr>
            <a:r>
              <a:rPr lang="en-US" sz="1600" b="1" dirty="0">
                <a:solidFill>
                  <a:schemeClr val="accent1"/>
                </a:solidFill>
              </a:rPr>
              <a:t>(b) Pair loss:</a:t>
            </a:r>
            <a:pPr indent="0" marL="0">
              <a:spcAft>
                <a:spcPts val="1000"/>
              </a:spcAft>
              <a:buNone/>
            </a:pPr>
            <a:r>
              <a:rPr lang="en-US" sz="1600" dirty="0">
                <a:solidFill>
                  <a:schemeClr val="bg1"/>
                </a:solidFill>
              </a:rPr>
              <a:t> stalls at 0.4998 photons, exactly the initial odd-parity probability</a:t>
            </a:r>
            <a:endParaRPr lang="en-US" sz="1600" dirty="0"/>
          </a:p>
          <a:p>
            <a:pPr indent="0" marL="0">
              <a:buNone/>
            </a:pPr>
            <a:r>
              <a:rPr lang="en-US" sz="1600" b="1" dirty="0">
                <a:solidFill>
                  <a:schemeClr val="accent2"/>
                </a:solidFill>
              </a:rPr>
              <a:t>(c) Drive + pair loss:</a:t>
            </a:r>
            <a:pPr indent="0" marL="0">
              <a:buNone/>
            </a:pPr>
            <a:r>
              <a:rPr lang="en-US" sz="1600" dirty="0">
                <a:solidFill>
                  <a:schemeClr val="bg1"/>
                </a:solidFill>
              </a:rPr>
              <a:t> every κ₂ settles at α² = 4.41, a stable cat manifold</a:t>
            </a:r>
            <a:endParaRPr lang="en-US" sz="16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INTRODUCTORY · TASKS 1.1–1.2</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Beyond the ideal model: the buffer is real</a:t>
            </a:r>
            <a:endParaRPr lang="en-US" sz="3200" dirty="0"/>
          </a:p>
        </p:txBody>
      </p:sp>
      <p:sp>
        <p:nvSpPr>
          <p:cNvPr id="4" name="figcard-8"/>
          <p:cNvSpPr/>
          <p:nvPr/>
        </p:nvSpPr>
        <p:spPr>
          <a:xfrm>
            <a:off x="548640" y="1371600"/>
            <a:ext cx="6583680" cy="3646362"/>
          </a:xfrm>
          <a:prstGeom prst="roundRect">
            <a:avLst>
              <a:gd name="adj" fmla="val 2508"/>
            </a:avLst>
          </a:prstGeom>
          <a:solidFill>
            <a:schemeClr val="bg1"/>
          </a:solidFill>
          <a:ln/>
        </p:spPr>
      </p:sp>
      <p:pic>
        <p:nvPicPr>
          <p:cNvPr id="5" name="fig-8" descr="Full two-mode inflation: memory photons overshoot, buffer peaks near 2 photons, truncation tails for two cutoffs">    </p:cNvPr>
          <p:cNvPicPr>
            <a:picLocks noChangeAspect="1"/>
          </p:cNvPicPr>
          <p:nvPr/>
        </p:nvPicPr>
        <p:blipFill>
          <a:blip r:embed="rId1"/>
          <a:stretch>
            <a:fillRect/>
          </a:stretch>
        </p:blipFill>
        <p:spPr>
          <a:xfrm>
            <a:off x="640080" y="1463040"/>
            <a:ext cx="6400800" cy="3463482"/>
          </a:xfrm>
          <a:prstGeom prst="rect">
            <a:avLst/>
          </a:prstGeom>
        </p:spPr>
      </p:pic>
      <p:sp>
        <p:nvSpPr>
          <p:cNvPr id="6" name="card-9"/>
          <p:cNvSpPr/>
          <p:nvPr/>
        </p:nvSpPr>
        <p:spPr>
          <a:xfrm>
            <a:off x="548640" y="5166360"/>
            <a:ext cx="2057400" cy="1280160"/>
          </a:xfrm>
          <a:prstGeom prst="roundRect">
            <a:avLst>
              <a:gd name="adj" fmla="val 7143"/>
            </a:avLst>
          </a:prstGeom>
          <a:solidFill>
            <a:schemeClr val="tx2"/>
          </a:solidFill>
          <a:ln/>
        </p:spPr>
      </p:sp>
      <p:sp>
        <p:nvSpPr>
          <p:cNvPr id="7" name="Text 4"/>
          <p:cNvSpPr txBox="1"/>
          <p:nvPr/>
        </p:nvSpPr>
        <p:spPr>
          <a:xfrm>
            <a:off x="731520" y="5276088"/>
            <a:ext cx="1691640" cy="1060704"/>
          </a:xfrm>
          <a:prstGeom prst="rect">
            <a:avLst/>
          </a:prstGeom>
          <a:noFill/>
          <a:ln/>
        </p:spPr>
        <p:txBody>
          <a:bodyPr wrap="square" lIns="0" tIns="0" rIns="0" bIns="0" rtlCol="0" anchor="ctr"/>
          <a:lstStyle/>
          <a:p>
            <a:pPr indent="0" marL="0">
              <a:spcAft>
                <a:spcPts val="200"/>
              </a:spcAft>
              <a:buNone/>
            </a:pPr>
            <a:r>
              <a:rPr lang="en-US" sz="3400" b="1" dirty="0">
                <a:solidFill>
                  <a:schemeClr val="accent2"/>
                </a:solidFill>
              </a:rPr>
              <a:t>6.91</a:t>
            </a:r>
            <a:endParaRPr lang="en-US" sz="3400" dirty="0"/>
          </a:p>
          <a:p>
            <a:pPr indent="0" marL="0">
              <a:spcAft>
                <a:spcPts val="200"/>
              </a:spcAft>
              <a:buNone/>
            </a:pPr>
            <a:r>
              <a:rPr lang="en-US" sz="1300" dirty="0">
                <a:solidFill>
                  <a:schemeClr val="bg2"/>
                </a:solidFill>
              </a:rPr>
              <a:t>peak photons vs 4.41 target</a:t>
            </a:r>
            <a:endParaRPr lang="en-US" sz="3400" dirty="0"/>
          </a:p>
        </p:txBody>
      </p:sp>
      <p:sp>
        <p:nvSpPr>
          <p:cNvPr id="8" name="card-10"/>
          <p:cNvSpPr/>
          <p:nvPr/>
        </p:nvSpPr>
        <p:spPr>
          <a:xfrm>
            <a:off x="2807208" y="5166360"/>
            <a:ext cx="2057400" cy="1280160"/>
          </a:xfrm>
          <a:prstGeom prst="roundRect">
            <a:avLst>
              <a:gd name="adj" fmla="val 7143"/>
            </a:avLst>
          </a:prstGeom>
          <a:solidFill>
            <a:schemeClr val="tx2"/>
          </a:solidFill>
          <a:ln/>
        </p:spPr>
      </p:sp>
      <p:sp>
        <p:nvSpPr>
          <p:cNvPr id="9" name="Text 6"/>
          <p:cNvSpPr txBox="1"/>
          <p:nvPr/>
        </p:nvSpPr>
        <p:spPr>
          <a:xfrm>
            <a:off x="2990088" y="5276088"/>
            <a:ext cx="1691640" cy="1060704"/>
          </a:xfrm>
          <a:prstGeom prst="rect">
            <a:avLst/>
          </a:prstGeom>
          <a:noFill/>
          <a:ln/>
        </p:spPr>
        <p:txBody>
          <a:bodyPr wrap="square" lIns="0" tIns="0" rIns="0" bIns="0" rtlCol="0" anchor="ctr"/>
          <a:lstStyle/>
          <a:p>
            <a:pPr indent="0" marL="0">
              <a:spcAft>
                <a:spcPts val="200"/>
              </a:spcAft>
              <a:buNone/>
            </a:pPr>
            <a:r>
              <a:rPr lang="en-US" sz="3400" b="1" dirty="0">
                <a:solidFill>
                  <a:schemeClr val="accent1"/>
                </a:solidFill>
              </a:rPr>
              <a:t>4.402</a:t>
            </a:r>
            <a:endParaRPr lang="en-US" sz="3400" dirty="0"/>
          </a:p>
          <a:p>
            <a:pPr indent="0" marL="0">
              <a:spcAft>
                <a:spcPts val="200"/>
              </a:spcAft>
              <a:buNone/>
            </a:pPr>
            <a:r>
              <a:rPr lang="en-US" sz="1300" dirty="0">
                <a:solidFill>
                  <a:schemeClr val="bg2"/>
                </a:solidFill>
              </a:rPr>
              <a:t>final photons, converged</a:t>
            </a:r>
            <a:endParaRPr lang="en-US" sz="3400" dirty="0"/>
          </a:p>
        </p:txBody>
      </p:sp>
      <p:sp>
        <p:nvSpPr>
          <p:cNvPr id="10" name="card-11"/>
          <p:cNvSpPr/>
          <p:nvPr/>
        </p:nvSpPr>
        <p:spPr>
          <a:xfrm>
            <a:off x="5074920" y="5166360"/>
            <a:ext cx="2057400" cy="1280160"/>
          </a:xfrm>
          <a:prstGeom prst="roundRect">
            <a:avLst>
              <a:gd name="adj" fmla="val 7143"/>
            </a:avLst>
          </a:prstGeom>
          <a:solidFill>
            <a:schemeClr val="tx2"/>
          </a:solidFill>
          <a:ln/>
        </p:spPr>
      </p:sp>
      <p:sp>
        <p:nvSpPr>
          <p:cNvPr id="11" name="Text 8"/>
          <p:cNvSpPr txBox="1"/>
          <p:nvPr/>
        </p:nvSpPr>
        <p:spPr>
          <a:xfrm>
            <a:off x="5257800" y="5276088"/>
            <a:ext cx="1691640" cy="1060704"/>
          </a:xfrm>
          <a:prstGeom prst="rect">
            <a:avLst/>
          </a:prstGeom>
          <a:noFill/>
          <a:ln/>
        </p:spPr>
        <p:txBody>
          <a:bodyPr wrap="square" lIns="0" tIns="0" rIns="0" bIns="0" rtlCol="0" anchor="ctr"/>
          <a:lstStyle/>
          <a:p>
            <a:pPr indent="0" marL="0">
              <a:spcAft>
                <a:spcPts val="200"/>
              </a:spcAft>
              <a:buNone/>
            </a:pPr>
            <a:r>
              <a:rPr lang="en-US" sz="3400" b="1" dirty="0">
                <a:solidFill>
                  <a:schemeClr val="accent4"/>
                </a:solidFill>
              </a:rPr>
              <a:t>11.5%</a:t>
            </a:r>
            <a:endParaRPr lang="en-US" sz="3400" dirty="0"/>
          </a:p>
          <a:p>
            <a:pPr indent="0" marL="0">
              <a:spcAft>
                <a:spcPts val="200"/>
              </a:spcAft>
              <a:buNone/>
            </a:pPr>
            <a:r>
              <a:rPr lang="en-US" sz="1300" dirty="0">
                <a:solidFill>
                  <a:schemeClr val="bg2"/>
                </a:solidFill>
              </a:rPr>
              <a:t>peak error at suggested Nb = 6</a:t>
            </a:r>
            <a:endParaRPr lang="en-US" sz="3400" dirty="0"/>
          </a:p>
        </p:txBody>
      </p:sp>
      <p:sp>
        <p:nvSpPr>
          <p:cNvPr id="12" name="card-12"/>
          <p:cNvSpPr/>
          <p:nvPr/>
        </p:nvSpPr>
        <p:spPr>
          <a:xfrm>
            <a:off x="7406640" y="1371600"/>
            <a:ext cx="4206240" cy="5074920"/>
          </a:xfrm>
          <a:prstGeom prst="roundRect">
            <a:avLst>
              <a:gd name="adj" fmla="val 2174"/>
            </a:avLst>
          </a:prstGeom>
          <a:solidFill>
            <a:schemeClr val="tx2"/>
          </a:solidFill>
          <a:ln/>
        </p:spPr>
      </p:sp>
      <p:pic>
        <p:nvPicPr>
          <p:cNvPr id="13" name="ch_conv" descr="Bar chart: overshoot peak error versus buffer cutoff Nb, 35.4% at Nb=4 down to 0.039% at Nb=12">    </p:cNvPr>
          <p:cNvPicPr>
            <a:picLocks noChangeAspect="1"/>
          </p:cNvPicPr>
          <p:nvPr/>
        </p:nvPicPr>
        <p:blipFill>
          <a:blip r:embed="rId2"/>
          <a:stretch>
            <a:fillRect/>
          </a:stretch>
        </p:blipFill>
        <p:spPr>
          <a:xfrm>
            <a:off x="7498080" y="1463040"/>
            <a:ext cx="4023360" cy="3749040"/>
          </a:xfrm>
          <a:prstGeom prst="rect">
            <a:avLst/>
          </a:prstGeom>
        </p:spPr>
      </p:pic>
      <p:sp>
        <p:nvSpPr>
          <p:cNvPr id="14" name="convergence-note"/>
          <p:cNvSpPr txBox="1"/>
          <p:nvPr/>
        </p:nvSpPr>
        <p:spPr>
          <a:xfrm>
            <a:off x="7635240" y="5303520"/>
            <a:ext cx="3749040" cy="1005840"/>
          </a:xfrm>
          <a:prstGeom prst="rect">
            <a:avLst/>
          </a:prstGeom>
          <a:noFill/>
          <a:ln/>
        </p:spPr>
        <p:txBody>
          <a:bodyPr wrap="square" lIns="0" tIns="0" rIns="0" bIns="0" rtlCol="0" anchor="t"/>
          <a:lstStyle/>
          <a:p>
            <a:pPr indent="0" marL="0">
              <a:buNone/>
            </a:pPr>
            <a:r>
              <a:rPr lang="en-US" sz="1400" b="1" dirty="0">
                <a:solidFill>
                  <a:schemeClr val="accent1"/>
                </a:solidFill>
              </a:rPr>
              <a:t>Converged within 0.2%: </a:t>
            </a:r>
            <a:pPr indent="0" marL="0">
              <a:buNone/>
            </a:pPr>
            <a:r>
              <a:rPr lang="en-US" sz="1400" dirty="0">
                <a:solidFill>
                  <a:schemeClr val="bg1"/>
                </a:solidFill>
              </a:rPr>
              <a:t>peak needs Na ≥ 32 and Nb ≥ 12. The steady state passes at every cutoff we tried.</a:t>
            </a:r>
            <a:endParaRPr lang="en-US" sz="14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INTRODUCTORY · TASK 1.3</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Preparing logical states</a:t>
            </a:r>
            <a:endParaRPr lang="en-US" sz="3200" dirty="0"/>
          </a:p>
        </p:txBody>
      </p:sp>
      <p:sp>
        <p:nvSpPr>
          <p:cNvPr id="4" name="figcard-13"/>
          <p:cNvSpPr/>
          <p:nvPr/>
        </p:nvSpPr>
        <p:spPr>
          <a:xfrm>
            <a:off x="548640" y="1371600"/>
            <a:ext cx="4572000" cy="2346998"/>
          </a:xfrm>
          <a:prstGeom prst="roundRect">
            <a:avLst>
              <a:gd name="adj" fmla="val 3896"/>
            </a:avLst>
          </a:prstGeom>
          <a:solidFill>
            <a:schemeClr val="bg1"/>
          </a:solidFill>
          <a:ln/>
        </p:spPr>
      </p:sp>
      <p:pic>
        <p:nvPicPr>
          <p:cNvPr id="5" name="fig-13" descr="Parity, even-cat fidelity and memory purity during inflation, with the incoherent-mixture baseline">    </p:cNvPr>
          <p:cNvPicPr>
            <a:picLocks noChangeAspect="1"/>
          </p:cNvPicPr>
          <p:nvPr/>
        </p:nvPicPr>
        <p:blipFill>
          <a:blip r:embed="rId1"/>
          <a:stretch>
            <a:fillRect/>
          </a:stretch>
        </p:blipFill>
        <p:spPr>
          <a:xfrm>
            <a:off x="640080" y="1463040"/>
            <a:ext cx="4389120" cy="2164118"/>
          </a:xfrm>
          <a:prstGeom prst="rect">
            <a:avLst/>
          </a:prstGeom>
        </p:spPr>
      </p:pic>
      <p:sp>
        <p:nvSpPr>
          <p:cNvPr id="6" name="figcard-14"/>
          <p:cNvSpPr/>
          <p:nvPr/>
        </p:nvSpPr>
        <p:spPr>
          <a:xfrm>
            <a:off x="548640" y="3928910"/>
            <a:ext cx="4572000" cy="2338598"/>
          </a:xfrm>
          <a:prstGeom prst="roundRect">
            <a:avLst>
              <a:gd name="adj" fmla="val 3910"/>
            </a:avLst>
          </a:prstGeom>
          <a:solidFill>
            <a:schemeClr val="bg1"/>
          </a:solidFill>
          <a:ln/>
        </p:spPr>
      </p:sp>
      <p:pic>
        <p:nvPicPr>
          <p:cNvPr id="7" name="fig-14" descr="Real part of a for different coherent seed amplitudes, converging to plus alpha">    </p:cNvPr>
          <p:cNvPicPr>
            <a:picLocks noChangeAspect="1"/>
          </p:cNvPicPr>
          <p:nvPr/>
        </p:nvPicPr>
        <p:blipFill>
          <a:blip r:embed="rId2"/>
          <a:stretch>
            <a:fillRect/>
          </a:stretch>
        </p:blipFill>
        <p:spPr>
          <a:xfrm>
            <a:off x="640080" y="4020350"/>
            <a:ext cx="4389120" cy="2155718"/>
          </a:xfrm>
          <a:prstGeom prst="rect">
            <a:avLst/>
          </a:prstGeom>
        </p:spPr>
      </p:pic>
      <p:sp>
        <p:nvSpPr>
          <p:cNvPr id="8" name="card-15"/>
          <p:cNvSpPr/>
          <p:nvPr/>
        </p:nvSpPr>
        <p:spPr>
          <a:xfrm>
            <a:off x="5394960" y="1371600"/>
            <a:ext cx="6217920" cy="2350008"/>
          </a:xfrm>
          <a:prstGeom prst="roundRect">
            <a:avLst>
              <a:gd name="adj" fmla="val 3891"/>
            </a:avLst>
          </a:prstGeom>
          <a:solidFill>
            <a:schemeClr val="tx2"/>
          </a:solidFill>
          <a:ln/>
        </p:spPr>
      </p:sp>
      <p:sp>
        <p:nvSpPr>
          <p:cNvPr id="9" name="sup-head"/>
          <p:cNvSpPr txBox="1"/>
          <p:nvPr/>
        </p:nvSpPr>
        <p:spPr>
          <a:xfrm>
            <a:off x="5623560" y="1508760"/>
            <a:ext cx="5760720" cy="365760"/>
          </a:xfrm>
          <a:prstGeom prst="rect">
            <a:avLst/>
          </a:prstGeom>
          <a:noFill/>
          <a:ln/>
        </p:spPr>
        <p:txBody>
          <a:bodyPr wrap="square" lIns="0" tIns="0" rIns="0" bIns="0" rtlCol="0" anchor="ctr"/>
          <a:lstStyle/>
          <a:p>
            <a:pPr indent="0" marL="0">
              <a:buNone/>
            </a:pPr>
            <a:r>
              <a:rPr lang="en-US" sz="2000" b="1" dirty="0">
                <a:solidFill>
                  <a:schemeClr val="accent1"/>
                </a:solidFill>
              </a:rPr>
              <a:t>Vacuum makes a superposition</a:t>
            </a:r>
            <a:endParaRPr lang="en-US" sz="2000" dirty="0"/>
          </a:p>
        </p:txBody>
      </p:sp>
      <p:sp>
        <p:nvSpPr>
          <p:cNvPr id="10" name="Text 6"/>
          <p:cNvSpPr txBox="1"/>
          <p:nvPr/>
        </p:nvSpPr>
        <p:spPr>
          <a:xfrm>
            <a:off x="5623560" y="1965960"/>
            <a:ext cx="5760720" cy="1691640"/>
          </a:xfrm>
          <a:prstGeom prst="rect">
            <a:avLst/>
          </a:prstGeom>
          <a:noFill/>
          <a:ln/>
        </p:spPr>
        <p:txBody>
          <a:bodyPr wrap="square" lIns="0" tIns="0" rIns="0" bIns="0" rtlCol="0" anchor="t"/>
          <a:lstStyle/>
          <a:p>
            <a:pPr indent="0" marL="0">
              <a:buNone/>
            </a:pPr>
            <a:r>
              <a:rPr lang="en-US" sz="1500" b="1" dirty="0">
                <a:solidFill>
                  <a:schemeClr val="accent2"/>
                </a:solidFill>
              </a:rPr>
              <a:t>Why:</a:t>
            </a:r>
            <a:pPr indent="0" marL="0">
              <a:spcAft>
                <a:spcPts val="1000"/>
              </a:spcAft>
              <a:buNone/>
            </a:pPr>
            <a:r>
              <a:rPr lang="en-US" sz="1500" dirty="0">
                <a:solidFill>
                  <a:schemeClr val="bg1"/>
                </a:solidFill>
              </a:rPr>
              <a:t> pairs can't change parity, and vacuum has parity +1</a:t>
            </a:r>
            <a:endParaRPr lang="en-US" sz="1500" dirty="0"/>
          </a:p>
          <a:p>
            <a:pPr indent="0" marL="0">
              <a:buNone/>
            </a:pPr>
            <a:r>
              <a:rPr lang="en-US" sz="1500" b="1" dirty="0">
                <a:solidFill>
                  <a:schemeClr val="accent2"/>
                </a:solidFill>
              </a:rPr>
              <a:t>Not a mixture:</a:t>
            </a:r>
            <a:pPr indent="0" marL="0">
              <a:spcAft>
                <a:spcPts val="1000"/>
              </a:spcAft>
              <a:buNone/>
            </a:pPr>
            <a:r>
              <a:rPr lang="en-US" sz="1500" dirty="0">
                <a:solidFill>
                  <a:schemeClr val="bg1"/>
                </a:solidFill>
              </a:rPr>
              <a:t> fidelity 0.844 vs 0.5 for a classical mixture, plus negative Wigner fringes</a:t>
            </a:r>
            <a:endParaRPr lang="en-US" sz="1500" dirty="0"/>
          </a:p>
          <a:p>
            <a:pPr indent="0" marL="0">
              <a:buNone/>
            </a:pPr>
            <a:r>
              <a:rPr lang="en-US" sz="1500" b="1" dirty="0">
                <a:solidFill>
                  <a:schemeClr val="accent2"/>
                </a:solidFill>
              </a:rPr>
              <a:t>How long:</a:t>
            </a:r>
            <a:pPr indent="0" marL="0">
              <a:buNone/>
            </a:pPr>
            <a:r>
              <a:rPr lang="en-US" sz="1500" dirty="0">
                <a:solidFill>
                  <a:schemeClr val="bg1"/>
                </a:solidFill>
              </a:rPr>
              <a:t> parity 1/e time 1.96 μs (predicted 1.94 μs)</a:t>
            </a:r>
            <a:endParaRPr lang="en-US" sz="1500" dirty="0"/>
          </a:p>
        </p:txBody>
      </p:sp>
      <p:sp>
        <p:nvSpPr>
          <p:cNvPr id="11" name="card-16"/>
          <p:cNvSpPr/>
          <p:nvPr/>
        </p:nvSpPr>
        <p:spPr>
          <a:xfrm>
            <a:off x="5394960" y="3931920"/>
            <a:ext cx="6217920" cy="2350008"/>
          </a:xfrm>
          <a:prstGeom prst="roundRect">
            <a:avLst>
              <a:gd name="adj" fmla="val 3891"/>
            </a:avLst>
          </a:prstGeom>
          <a:solidFill>
            <a:schemeClr val="tx2"/>
          </a:solidFill>
          <a:ln/>
        </p:spPr>
      </p:sp>
      <p:sp>
        <p:nvSpPr>
          <p:cNvPr id="12" name="seed-head"/>
          <p:cNvSpPr txBox="1"/>
          <p:nvPr/>
        </p:nvSpPr>
        <p:spPr>
          <a:xfrm>
            <a:off x="5623560" y="4069080"/>
            <a:ext cx="5760720" cy="365760"/>
          </a:xfrm>
          <a:prstGeom prst="rect">
            <a:avLst/>
          </a:prstGeom>
          <a:noFill/>
          <a:ln/>
        </p:spPr>
        <p:txBody>
          <a:bodyPr wrap="square" lIns="0" tIns="0" rIns="0" bIns="0" rtlCol="0" anchor="ctr"/>
          <a:lstStyle/>
          <a:p>
            <a:pPr indent="0" marL="0">
              <a:buNone/>
            </a:pPr>
            <a:r>
              <a:rPr lang="en-US" sz="2000" b="1" dirty="0">
                <a:solidFill>
                  <a:schemeClr val="accent1"/>
                </a:solidFill>
              </a:rPr>
              <a:t>A definite bit: seed before inflating</a:t>
            </a:r>
            <a:endParaRPr lang="en-US" sz="2000" dirty="0"/>
          </a:p>
        </p:txBody>
      </p:sp>
      <p:sp>
        <p:nvSpPr>
          <p:cNvPr id="13" name="Text 9"/>
          <p:cNvSpPr txBox="1"/>
          <p:nvPr/>
        </p:nvSpPr>
        <p:spPr>
          <a:xfrm>
            <a:off x="5623560" y="4526280"/>
            <a:ext cx="5760720" cy="1691640"/>
          </a:xfrm>
          <a:prstGeom prst="rect">
            <a:avLst/>
          </a:prstGeom>
          <a:noFill/>
          <a:ln/>
        </p:spPr>
        <p:txBody>
          <a:bodyPr wrap="square" lIns="0" tIns="0" rIns="0" bIns="0" rtlCol="0" anchor="t"/>
          <a:lstStyle/>
          <a:p>
            <a:pPr indent="0" marL="0">
              <a:buNone/>
            </a:pPr>
            <a:r>
              <a:rPr lang="en-US" sz="1500" b="1" dirty="0">
                <a:solidFill>
                  <a:schemeClr val="accent2"/>
                </a:solidFill>
              </a:rPr>
              <a:t>Method:</a:t>
            </a:r>
            <a:pPr indent="0" marL="0">
              <a:spcAft>
                <a:spcPts val="1000"/>
              </a:spcAft>
              <a:buNone/>
            </a:pPr>
            <a:r>
              <a:rPr lang="en-US" sz="1500" dirty="0">
                <a:solidFill>
                  <a:schemeClr val="bg1"/>
                </a:solidFill>
              </a:rPr>
              <a:t> a small displacement breaks the ±α symmetry, then the stabilizer grows it</a:t>
            </a:r>
            <a:endParaRPr lang="en-US" sz="1500" dirty="0"/>
          </a:p>
          <a:p>
            <a:pPr indent="0" marL="0">
              <a:buNone/>
            </a:pPr>
            <a:r>
              <a:rPr lang="en-US" sz="1500" b="1" dirty="0">
                <a:solidFill>
                  <a:schemeClr val="accent2"/>
                </a:solidFill>
              </a:rPr>
              <a:t>Result:</a:t>
            </a:r>
            <a:pPr indent="0" marL="0">
              <a:spcAft>
                <a:spcPts val="1000"/>
              </a:spcAft>
              <a:buNone/>
            </a:pPr>
            <a:r>
              <a:rPr lang="en-US" sz="1500" dirty="0">
                <a:solidFill>
                  <a:schemeClr val="bg1"/>
                </a:solidFill>
              </a:rPr>
              <a:t> seed 1.5 → fidelity 0.9988 with |+α⟩</a:t>
            </a:r>
            <a:endParaRPr lang="en-US" sz="1500" dirty="0"/>
          </a:p>
          <a:p>
            <a:pPr indent="0" marL="0">
              <a:buNone/>
            </a:pPr>
            <a:r>
              <a:rPr lang="en-US" sz="1500" b="1" dirty="0">
                <a:solidFill>
                  <a:schemeClr val="accent2"/>
                </a:solidFill>
              </a:rPr>
              <a:t>Cost:</a:t>
            </a:r>
            <a:pPr indent="0" marL="0">
              <a:buNone/>
            </a:pPr>
            <a:r>
              <a:rPr lang="en-US" sz="1500" dirty="0">
                <a:solidFill>
                  <a:schemeClr val="bg1"/>
                </a:solidFill>
              </a:rPr>
              <a:t> a calibrated, phase-locked memory drive port</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STANDARD · TASKS 2.1–2.2</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Characterizing logical errors</a:t>
            </a:r>
            <a:endParaRPr lang="en-US" sz="3200" dirty="0"/>
          </a:p>
        </p:txBody>
      </p:sp>
      <p:sp>
        <p:nvSpPr>
          <p:cNvPr id="4" name="figcard-17"/>
          <p:cNvSpPr/>
          <p:nvPr/>
        </p:nvSpPr>
        <p:spPr>
          <a:xfrm>
            <a:off x="548640" y="1371600"/>
            <a:ext cx="6949440" cy="2522159"/>
          </a:xfrm>
          <a:prstGeom prst="roundRect">
            <a:avLst>
              <a:gd name="adj" fmla="val 3625"/>
            </a:avLst>
          </a:prstGeom>
          <a:solidFill>
            <a:schemeClr val="bg1"/>
          </a:solidFill>
          <a:ln/>
        </p:spPr>
      </p:sp>
      <p:pic>
        <p:nvPicPr>
          <p:cNvPr id="5" name="fig-17" descr="Bit-flip decay traces and log-linear fit of Gamma X versus alpha squared">    </p:cNvPr>
          <p:cNvPicPr>
            <a:picLocks noChangeAspect="1"/>
          </p:cNvPicPr>
          <p:nvPr/>
        </p:nvPicPr>
        <p:blipFill>
          <a:blip r:embed="rId1"/>
          <a:stretch>
            <a:fillRect/>
          </a:stretch>
        </p:blipFill>
        <p:spPr>
          <a:xfrm>
            <a:off x="640080" y="1463040"/>
            <a:ext cx="6766560" cy="2339279"/>
          </a:xfrm>
          <a:prstGeom prst="rect">
            <a:avLst/>
          </a:prstGeom>
        </p:spPr>
      </p:pic>
      <p:sp>
        <p:nvSpPr>
          <p:cNvPr id="6" name="figcard-18"/>
          <p:cNvSpPr/>
          <p:nvPr/>
        </p:nvSpPr>
        <p:spPr>
          <a:xfrm>
            <a:off x="548640" y="4122359"/>
            <a:ext cx="6949440" cy="2507770"/>
          </a:xfrm>
          <a:prstGeom prst="roundRect">
            <a:avLst>
              <a:gd name="adj" fmla="val 3646"/>
            </a:avLst>
          </a:prstGeom>
          <a:solidFill>
            <a:schemeClr val="bg1"/>
          </a:solidFill>
          <a:ln/>
        </p:spPr>
      </p:sp>
      <p:pic>
        <p:nvPicPr>
          <p:cNvPr id="7" name="fig-18" descr="Parity decay at alpha 2.1 and linear fit of Gamma Z versus alpha squared">    </p:cNvPr>
          <p:cNvPicPr>
            <a:picLocks noChangeAspect="1"/>
          </p:cNvPicPr>
          <p:nvPr/>
        </p:nvPicPr>
        <p:blipFill>
          <a:blip r:embed="rId2"/>
          <a:stretch>
            <a:fillRect/>
          </a:stretch>
        </p:blipFill>
        <p:spPr>
          <a:xfrm>
            <a:off x="640080" y="4213799"/>
            <a:ext cx="6766560" cy="2324890"/>
          </a:xfrm>
          <a:prstGeom prst="rect">
            <a:avLst/>
          </a:prstGeom>
        </p:spPr>
      </p:pic>
      <p:sp>
        <p:nvSpPr>
          <p:cNvPr id="8" name="card-19"/>
          <p:cNvSpPr/>
          <p:nvPr/>
        </p:nvSpPr>
        <p:spPr>
          <a:xfrm>
            <a:off x="7772400" y="1371600"/>
            <a:ext cx="3840480" cy="1554480"/>
          </a:xfrm>
          <a:prstGeom prst="roundRect">
            <a:avLst>
              <a:gd name="adj" fmla="val 5882"/>
            </a:avLst>
          </a:prstGeom>
          <a:solidFill>
            <a:schemeClr val="tx2"/>
          </a:solidFill>
          <a:ln/>
        </p:spPr>
      </p:sp>
      <p:sp>
        <p:nvSpPr>
          <p:cNvPr id="9" name="Text 5"/>
          <p:cNvSpPr txBox="1"/>
          <p:nvPr/>
        </p:nvSpPr>
        <p:spPr>
          <a:xfrm>
            <a:off x="7955280" y="1481328"/>
            <a:ext cx="3474720" cy="1335024"/>
          </a:xfrm>
          <a:prstGeom prst="rect">
            <a:avLst/>
          </a:prstGeom>
          <a:noFill/>
          <a:ln/>
        </p:spPr>
        <p:txBody>
          <a:bodyPr wrap="square" lIns="0" tIns="0" rIns="0" bIns="0" rtlCol="0" anchor="ctr"/>
          <a:lstStyle/>
          <a:p>
            <a:pPr indent="0" marL="0">
              <a:spcAft>
                <a:spcPts val="200"/>
              </a:spcAft>
              <a:buNone/>
            </a:pPr>
            <a:r>
              <a:rPr lang="en-US" sz="3400" b="1" dirty="0">
                <a:solidFill>
                  <a:schemeClr val="accent1"/>
                </a:solidFill>
              </a:rPr>
              <a:t>γ = 2.95</a:t>
            </a:r>
            <a:endParaRPr lang="en-US" sz="3400" dirty="0"/>
          </a:p>
          <a:p>
            <a:pPr indent="0" marL="0">
              <a:spcAft>
                <a:spcPts val="200"/>
              </a:spcAft>
              <a:buNone/>
            </a:pPr>
            <a:r>
              <a:rPr lang="en-US" sz="1300" dirty="0">
                <a:solidFill>
                  <a:schemeClr val="bg2"/>
                </a:solidFill>
              </a:rPr>
              <a:t>bit flips ∝ e^(−γα²), α = 0.6–1.4; fit, eigenvalue and qutip all agree</a:t>
            </a:r>
            <a:endParaRPr lang="en-US" sz="3400" dirty="0"/>
          </a:p>
        </p:txBody>
      </p:sp>
      <p:sp>
        <p:nvSpPr>
          <p:cNvPr id="10" name="card-20"/>
          <p:cNvSpPr/>
          <p:nvPr/>
        </p:nvSpPr>
        <p:spPr>
          <a:xfrm>
            <a:off x="7772400" y="3108960"/>
            <a:ext cx="3840480" cy="1554480"/>
          </a:xfrm>
          <a:prstGeom prst="roundRect">
            <a:avLst>
              <a:gd name="adj" fmla="val 5882"/>
            </a:avLst>
          </a:prstGeom>
          <a:solidFill>
            <a:schemeClr val="tx2"/>
          </a:solidFill>
          <a:ln/>
        </p:spPr>
      </p:sp>
      <p:sp>
        <p:nvSpPr>
          <p:cNvPr id="11" name="Text 7"/>
          <p:cNvSpPr txBox="1"/>
          <p:nvPr/>
        </p:nvSpPr>
        <p:spPr>
          <a:xfrm>
            <a:off x="7955280" y="3218688"/>
            <a:ext cx="3474720" cy="1335024"/>
          </a:xfrm>
          <a:prstGeom prst="rect">
            <a:avLst/>
          </a:prstGeom>
          <a:noFill/>
          <a:ln/>
        </p:spPr>
        <p:txBody>
          <a:bodyPr wrap="square" lIns="0" tIns="0" rIns="0" bIns="0" rtlCol="0" anchor="ctr"/>
          <a:lstStyle/>
          <a:p>
            <a:pPr indent="0" marL="0">
              <a:spcAft>
                <a:spcPts val="200"/>
              </a:spcAft>
              <a:buNone/>
            </a:pPr>
            <a:r>
              <a:rPr lang="en-US" sz="3400" b="1" dirty="0">
                <a:solidFill>
                  <a:schemeClr val="accent2"/>
                </a:solidFill>
              </a:rPr>
              <a:t>0.1167</a:t>
            </a:r>
            <a:endParaRPr lang="en-US" sz="3400" dirty="0"/>
          </a:p>
          <a:p>
            <a:pPr indent="0" marL="0">
              <a:spcAft>
                <a:spcPts val="200"/>
              </a:spcAft>
              <a:buNone/>
            </a:pPr>
            <a:r>
              <a:rPr lang="en-US" sz="1300" dirty="0">
                <a:solidFill>
                  <a:schemeClr val="bg2"/>
                </a:solidFill>
              </a:rPr>
              <a:t>fitted Γz slope vs 2κa = 0.1169 (0.2% off)</a:t>
            </a:r>
            <a:endParaRPr lang="en-US" sz="3400" dirty="0"/>
          </a:p>
        </p:txBody>
      </p:sp>
      <p:sp>
        <p:nvSpPr>
          <p:cNvPr id="12" name="card-21"/>
          <p:cNvSpPr/>
          <p:nvPr/>
        </p:nvSpPr>
        <p:spPr>
          <a:xfrm>
            <a:off x="7772400" y="4846320"/>
            <a:ext cx="3840480" cy="1600200"/>
          </a:xfrm>
          <a:prstGeom prst="roundRect">
            <a:avLst>
              <a:gd name="adj" fmla="val 5714"/>
            </a:avLst>
          </a:prstGeom>
          <a:solidFill>
            <a:schemeClr val="tx2"/>
          </a:solidFill>
          <a:ln/>
        </p:spPr>
      </p:sp>
      <p:sp>
        <p:nvSpPr>
          <p:cNvPr id="13" name="gamma-note"/>
          <p:cNvSpPr txBox="1"/>
          <p:nvPr/>
        </p:nvSpPr>
        <p:spPr>
          <a:xfrm>
            <a:off x="7955280" y="4956048"/>
            <a:ext cx="3474720" cy="1371600"/>
          </a:xfrm>
          <a:prstGeom prst="rect">
            <a:avLst/>
          </a:prstGeom>
          <a:noFill/>
          <a:ln/>
        </p:spPr>
        <p:txBody>
          <a:bodyPr wrap="square" lIns="0" tIns="0" rIns="0" bIns="0" rtlCol="0" anchor="ctr"/>
          <a:lstStyle/>
          <a:p>
            <a:pPr indent="0" marL="0">
              <a:buNone/>
            </a:pPr>
            <a:r>
              <a:rPr lang="en-US" sz="1300" b="1" dirty="0">
                <a:solidFill>
                  <a:schemeClr val="accent1"/>
                </a:solidFill>
              </a:rPr>
              <a:t>Why γ &gt; 2? </a:t>
            </a:r>
            <a:pPr indent="0" marL="0">
              <a:buNone/>
            </a:pPr>
            <a:r>
              <a:rPr lang="en-US" sz="1300" dirty="0">
                <a:solidFill>
                  <a:schemeClr val="bg1"/>
                </a:solidFill>
              </a:rPr>
              <a:t>There's no thermal noise in this model. A second-order loss process and finite cat size set the slope, not the naive e^(−4α²) overlap.</a:t>
            </a:r>
            <a:endParaRPr lang="en-US" sz="13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STANDARD · TASK 2.3</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Reading the cat through the buffer</a:t>
            </a:r>
            <a:endParaRPr lang="en-US" sz="3200" dirty="0"/>
          </a:p>
        </p:txBody>
      </p:sp>
      <p:sp>
        <p:nvSpPr>
          <p:cNvPr id="4" name="figcard-22"/>
          <p:cNvSpPr/>
          <p:nvPr/>
        </p:nvSpPr>
        <p:spPr>
          <a:xfrm>
            <a:off x="548640" y="1371600"/>
            <a:ext cx="7498080" cy="2696275"/>
          </a:xfrm>
          <a:prstGeom prst="roundRect">
            <a:avLst>
              <a:gd name="adj" fmla="val 3391"/>
            </a:avLst>
          </a:prstGeom>
          <a:solidFill>
            <a:schemeClr val="bg1"/>
          </a:solidFill>
          <a:ln/>
        </p:spPr>
      </p:sp>
      <p:pic>
        <p:nvPicPr>
          <p:cNvPr id="5" name="fig-22" descr="Buffer amplitude for each codeword and their difference settling to the linear estimate">    </p:cNvPr>
          <p:cNvPicPr>
            <a:picLocks noChangeAspect="1"/>
          </p:cNvPicPr>
          <p:nvPr/>
        </p:nvPicPr>
        <p:blipFill>
          <a:blip r:embed="rId1"/>
          <a:stretch>
            <a:fillRect/>
          </a:stretch>
        </p:blipFill>
        <p:spPr>
          <a:xfrm>
            <a:off x="640080" y="1463040"/>
            <a:ext cx="7315200" cy="2513395"/>
          </a:xfrm>
          <a:prstGeom prst="rect">
            <a:avLst/>
          </a:prstGeom>
        </p:spPr>
      </p:pic>
      <p:sp>
        <p:nvSpPr>
          <p:cNvPr id="6" name="card-23"/>
          <p:cNvSpPr/>
          <p:nvPr/>
        </p:nvSpPr>
        <p:spPr>
          <a:xfrm>
            <a:off x="8321040" y="1371600"/>
            <a:ext cx="3291840" cy="1234440"/>
          </a:xfrm>
          <a:prstGeom prst="roundRect">
            <a:avLst>
              <a:gd name="adj" fmla="val 7407"/>
            </a:avLst>
          </a:prstGeom>
          <a:solidFill>
            <a:schemeClr val="tx2"/>
          </a:solidFill>
          <a:ln/>
        </p:spPr>
      </p:sp>
      <p:sp>
        <p:nvSpPr>
          <p:cNvPr id="7" name="Text 4"/>
          <p:cNvSpPr txBox="1"/>
          <p:nvPr/>
        </p:nvSpPr>
        <p:spPr>
          <a:xfrm>
            <a:off x="8503920" y="1481328"/>
            <a:ext cx="2926080" cy="1014984"/>
          </a:xfrm>
          <a:prstGeom prst="rect">
            <a:avLst/>
          </a:prstGeom>
          <a:noFill/>
          <a:ln/>
        </p:spPr>
        <p:txBody>
          <a:bodyPr wrap="square" lIns="0" tIns="0" rIns="0" bIns="0" rtlCol="0" anchor="ctr"/>
          <a:lstStyle/>
          <a:p>
            <a:pPr indent="0" marL="0">
              <a:spcAft>
                <a:spcPts val="200"/>
              </a:spcAft>
              <a:buNone/>
            </a:pPr>
            <a:r>
              <a:rPr lang="en-US" sz="3400" b="1" dirty="0">
                <a:solidFill>
                  <a:schemeClr val="accent1"/>
                </a:solidFill>
              </a:rPr>
              <a:t>−0.048</a:t>
            </a:r>
            <a:endParaRPr lang="en-US" sz="3400" dirty="0"/>
          </a:p>
          <a:p>
            <a:pPr indent="0" marL="0">
              <a:spcAft>
                <a:spcPts val="200"/>
              </a:spcAft>
              <a:buNone/>
            </a:pPr>
            <a:r>
              <a:rPr lang="en-US" sz="1300" dirty="0">
                <a:solidFill>
                  <a:schemeClr val="bg2"/>
                </a:solidFill>
              </a:rPr>
              <a:t>contrast, matches linear estimate</a:t>
            </a:r>
            <a:endParaRPr lang="en-US" sz="3400" dirty="0"/>
          </a:p>
        </p:txBody>
      </p:sp>
      <p:sp>
        <p:nvSpPr>
          <p:cNvPr id="8" name="card-24"/>
          <p:cNvSpPr/>
          <p:nvPr/>
        </p:nvSpPr>
        <p:spPr>
          <a:xfrm>
            <a:off x="8321040" y="2788920"/>
            <a:ext cx="3291840" cy="1234440"/>
          </a:xfrm>
          <a:prstGeom prst="roundRect">
            <a:avLst>
              <a:gd name="adj" fmla="val 7407"/>
            </a:avLst>
          </a:prstGeom>
          <a:solidFill>
            <a:schemeClr val="tx2"/>
          </a:solidFill>
          <a:ln/>
        </p:spPr>
      </p:sp>
      <p:sp>
        <p:nvSpPr>
          <p:cNvPr id="9" name="Text 6"/>
          <p:cNvSpPr txBox="1"/>
          <p:nvPr/>
        </p:nvSpPr>
        <p:spPr>
          <a:xfrm>
            <a:off x="8503920" y="2898648"/>
            <a:ext cx="2926080" cy="1014984"/>
          </a:xfrm>
          <a:prstGeom prst="rect">
            <a:avLst/>
          </a:prstGeom>
          <a:noFill/>
          <a:ln/>
        </p:spPr>
        <p:txBody>
          <a:bodyPr wrap="square" lIns="0" tIns="0" rIns="0" bIns="0" rtlCol="0" anchor="ctr"/>
          <a:lstStyle/>
          <a:p>
            <a:pPr indent="0" marL="0">
              <a:spcAft>
                <a:spcPts val="200"/>
              </a:spcAft>
              <a:buNone/>
            </a:pPr>
            <a:r>
              <a:rPr lang="en-US" sz="3400" b="1" dirty="0">
                <a:solidFill>
                  <a:schemeClr val="accent2"/>
                </a:solidFill>
              </a:rPr>
              <a:t>0.82 μs</a:t>
            </a:r>
            <a:endParaRPr lang="en-US" sz="3400" dirty="0"/>
          </a:p>
          <a:p>
            <a:pPr indent="0" marL="0">
              <a:spcAft>
                <a:spcPts val="200"/>
              </a:spcAft>
              <a:buNone/>
            </a:pPr>
            <a:r>
              <a:rPr lang="en-US" sz="1300" dirty="0">
                <a:solidFill>
                  <a:schemeClr val="bg2"/>
                </a:solidFill>
              </a:rPr>
              <a:t>to settle within 2%, with ringing</a:t>
            </a:r>
            <a:endParaRPr lang="en-US" sz="3400" dirty="0"/>
          </a:p>
        </p:txBody>
      </p:sp>
      <p:sp>
        <p:nvSpPr>
          <p:cNvPr id="10" name="card-25"/>
          <p:cNvSpPr/>
          <p:nvPr/>
        </p:nvSpPr>
        <p:spPr>
          <a:xfrm>
            <a:off x="548640" y="4206240"/>
            <a:ext cx="3657600" cy="2240280"/>
          </a:xfrm>
          <a:prstGeom prst="roundRect">
            <a:avLst>
              <a:gd name="adj" fmla="val 4082"/>
            </a:avLst>
          </a:prstGeom>
          <a:solidFill>
            <a:schemeClr val="tx2"/>
          </a:solidFill>
          <a:ln/>
        </p:spPr>
      </p:sp>
      <p:pic>
        <p:nvPicPr>
          <p:cNvPr id="11" name="ch_contrast" descr="Readout contrast rising with memory drive strength at alpha 1.2">    </p:cNvPr>
          <p:cNvPicPr>
            <a:picLocks noChangeAspect="1"/>
          </p:cNvPicPr>
          <p:nvPr/>
        </p:nvPicPr>
        <p:blipFill>
          <a:blip r:embed="rId2"/>
          <a:stretch>
            <a:fillRect/>
          </a:stretch>
        </p:blipFill>
        <p:spPr>
          <a:xfrm>
            <a:off x="640080" y="4251960"/>
            <a:ext cx="3474720" cy="2148840"/>
          </a:xfrm>
          <a:prstGeom prst="rect">
            <a:avLst/>
          </a:prstGeom>
        </p:spPr>
      </p:pic>
      <p:sp>
        <p:nvSpPr>
          <p:cNvPr id="12" name="card-26"/>
          <p:cNvSpPr/>
          <p:nvPr/>
        </p:nvSpPr>
        <p:spPr>
          <a:xfrm>
            <a:off x="4389120" y="4206240"/>
            <a:ext cx="3657600" cy="2240280"/>
          </a:xfrm>
          <a:prstGeom prst="roundRect">
            <a:avLst>
              <a:gd name="adj" fmla="val 4082"/>
            </a:avLst>
          </a:prstGeom>
          <a:solidFill>
            <a:schemeClr val="tx2"/>
          </a:solidFill>
          <a:ln/>
        </p:spPr>
      </p:sp>
      <p:pic>
        <p:nvPicPr>
          <p:cNvPr id="13" name="ch_gx" descr="Bit-flip rate rising about 350 times with memory drive strength at alpha 1.2">    </p:cNvPr>
          <p:cNvPicPr>
            <a:picLocks noChangeAspect="1"/>
          </p:cNvPicPr>
          <p:nvPr/>
        </p:nvPicPr>
        <p:blipFill>
          <a:blip r:embed="rId3"/>
          <a:stretch>
            <a:fillRect/>
          </a:stretch>
        </p:blipFill>
        <p:spPr>
          <a:xfrm>
            <a:off x="4480560" y="4251960"/>
            <a:ext cx="3474720" cy="2148840"/>
          </a:xfrm>
          <a:prstGeom prst="rect">
            <a:avLst/>
          </a:prstGeom>
        </p:spPr>
      </p:pic>
      <p:sp>
        <p:nvSpPr>
          <p:cNvPr id="14" name="card-27"/>
          <p:cNvSpPr/>
          <p:nvPr/>
        </p:nvSpPr>
        <p:spPr>
          <a:xfrm>
            <a:off x="8321040" y="4206240"/>
            <a:ext cx="3291840" cy="2240280"/>
          </a:xfrm>
          <a:prstGeom prst="roundRect">
            <a:avLst>
              <a:gd name="adj" fmla="val 4082"/>
            </a:avLst>
          </a:prstGeom>
          <a:solidFill>
            <a:schemeClr val="tx2"/>
          </a:solidFill>
          <a:ln/>
        </p:spPr>
      </p:sp>
      <p:sp>
        <p:nvSpPr>
          <p:cNvPr id="15" name="tradeoff-note"/>
          <p:cNvSpPr txBox="1"/>
          <p:nvPr/>
        </p:nvSpPr>
        <p:spPr>
          <a:xfrm>
            <a:off x="8503920" y="4315968"/>
            <a:ext cx="2926080" cy="2011680"/>
          </a:xfrm>
          <a:prstGeom prst="rect">
            <a:avLst/>
          </a:prstGeom>
          <a:noFill/>
          <a:ln/>
        </p:spPr>
        <p:txBody>
          <a:bodyPr wrap="square" lIns="0" tIns="0" rIns="0" bIns="0" rtlCol="0" anchor="t"/>
          <a:lstStyle/>
          <a:p>
            <a:pPr indent="0" marL="0">
              <a:spcAft>
                <a:spcPts val="600"/>
              </a:spcAft>
              <a:buNone/>
            </a:pPr>
            <a:r>
              <a:rPr lang="en-US" sz="1800" b="1" dirty="0">
                <a:solidFill>
                  <a:schemeClr val="accent4"/>
                </a:solidFill>
              </a:rPr>
              <a:t>The trade-off</a:t>
            </a:r>
            <a:endParaRPr lang="en-US" sz="1800" dirty="0"/>
          </a:p>
          <a:p>
            <a:pPr indent="0" marL="0">
              <a:spcAft>
                <a:spcPts val="600"/>
              </a:spcAft>
              <a:buNone/>
            </a:pPr>
            <a:r>
              <a:rPr lang="en-US" sz="1400" dirty="0">
                <a:solidFill>
                  <a:schemeClr val="bg1"/>
                </a:solidFill>
              </a:rPr>
              <a:t>Pushing harder makes the signal louder, but bit flips speed up ~350× by εZ = 0.4 g₂ (α = 1.2, where Γx is resolvable).</a:t>
            </a:r>
            <a:endParaRPr lang="en-US" sz="18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STANDARD · TASK 2.4 · OUR CAPSTONE</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Cross-Kerr-aware readout</a:t>
            </a:r>
            <a:endParaRPr lang="en-US" sz="3200" dirty="0"/>
          </a:p>
        </p:txBody>
      </p:sp>
      <p:sp>
        <p:nvSpPr>
          <p:cNvPr id="4" name="card-28"/>
          <p:cNvSpPr/>
          <p:nvPr/>
        </p:nvSpPr>
        <p:spPr>
          <a:xfrm>
            <a:off x="548640" y="1371600"/>
            <a:ext cx="6766560" cy="2514600"/>
          </a:xfrm>
          <a:prstGeom prst="roundRect">
            <a:avLst>
              <a:gd name="adj" fmla="val 3636"/>
            </a:avLst>
          </a:prstGeom>
          <a:solidFill>
            <a:schemeClr val="tx2"/>
          </a:solidFill>
          <a:ln/>
        </p:spPr>
      </p:sp>
      <p:pic>
        <p:nvPicPr>
          <p:cNvPr id="5" name="ch_seq" descr="Control sequence: cat size rises 45% during the 1.5 microsecond readout window while the buffer-frequency correction tracks it">    </p:cNvPr>
          <p:cNvPicPr>
            <a:picLocks noChangeAspect="1"/>
          </p:cNvPicPr>
          <p:nvPr/>
        </p:nvPicPr>
        <p:blipFill>
          <a:blip r:embed="rId1"/>
          <a:stretch>
            <a:fillRect/>
          </a:stretch>
        </p:blipFill>
        <p:spPr>
          <a:xfrm>
            <a:off x="640080" y="1417320"/>
            <a:ext cx="6583680" cy="2423160"/>
          </a:xfrm>
          <a:prstGeom prst="rect">
            <a:avLst/>
          </a:prstGeom>
        </p:spPr>
      </p:pic>
      <p:sp>
        <p:nvSpPr>
          <p:cNvPr id="6" name="card-29"/>
          <p:cNvSpPr/>
          <p:nvPr/>
        </p:nvSpPr>
        <p:spPr>
          <a:xfrm>
            <a:off x="548640" y="4069080"/>
            <a:ext cx="2139696" cy="2377440"/>
          </a:xfrm>
          <a:prstGeom prst="roundRect">
            <a:avLst>
              <a:gd name="adj" fmla="val 4274"/>
            </a:avLst>
          </a:prstGeom>
          <a:solidFill>
            <a:schemeClr val="tx2"/>
          </a:solidFill>
          <a:ln/>
        </p:spPr>
      </p:sp>
      <p:sp>
        <p:nvSpPr>
          <p:cNvPr id="7" name="step-0"/>
          <p:cNvSpPr txBox="1"/>
          <p:nvPr/>
        </p:nvSpPr>
        <p:spPr>
          <a:xfrm>
            <a:off x="704088" y="4178808"/>
            <a:ext cx="1828800" cy="2157984"/>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1  Breathe</a:t>
            </a:r>
            <a:endParaRPr lang="en-US" sz="1700" dirty="0"/>
          </a:p>
          <a:p>
            <a:pPr indent="0" marL="0">
              <a:spcAft>
                <a:spcPts val="600"/>
              </a:spcAft>
              <a:buNone/>
            </a:pPr>
            <a:r>
              <a:rPr lang="en-US" sz="1300" dirty="0">
                <a:solidFill>
                  <a:schemeClr val="bg1"/>
                </a:solidFill>
              </a:rPr>
              <a:t>Buffer drive rises 45% on a smooth sin² ramp. The cat swells, the wells separate, and the buffer hears more.</a:t>
            </a:r>
            <a:endParaRPr lang="en-US" sz="1700" dirty="0"/>
          </a:p>
        </p:txBody>
      </p:sp>
      <p:sp>
        <p:nvSpPr>
          <p:cNvPr id="8" name="card-30"/>
          <p:cNvSpPr/>
          <p:nvPr/>
        </p:nvSpPr>
        <p:spPr>
          <a:xfrm>
            <a:off x="2862072" y="4069080"/>
            <a:ext cx="2139696" cy="2377440"/>
          </a:xfrm>
          <a:prstGeom prst="roundRect">
            <a:avLst>
              <a:gd name="adj" fmla="val 4274"/>
            </a:avLst>
          </a:prstGeom>
          <a:solidFill>
            <a:schemeClr val="tx2"/>
          </a:solidFill>
          <a:ln/>
        </p:spPr>
      </p:sp>
      <p:sp>
        <p:nvSpPr>
          <p:cNvPr id="9" name="step-1"/>
          <p:cNvSpPr txBox="1"/>
          <p:nvPr/>
        </p:nvSpPr>
        <p:spPr>
          <a:xfrm>
            <a:off x="3017520" y="4178808"/>
            <a:ext cx="1828800" cy="2157984"/>
          </a:xfrm>
          <a:prstGeom prst="rect">
            <a:avLst/>
          </a:prstGeom>
          <a:noFill/>
          <a:ln/>
        </p:spPr>
        <p:txBody>
          <a:bodyPr wrap="square" lIns="0" tIns="0" rIns="0" bIns="0" rtlCol="0" anchor="t"/>
          <a:lstStyle/>
          <a:p>
            <a:pPr indent="0" marL="0">
              <a:spcAft>
                <a:spcPts val="600"/>
              </a:spcAft>
              <a:buNone/>
            </a:pPr>
            <a:r>
              <a:rPr lang="en-US" sz="1700" b="1" dirty="0">
                <a:solidFill>
                  <a:schemeClr val="accent2"/>
                </a:solidFill>
              </a:rPr>
              <a:t>2  Track</a:t>
            </a:r>
            <a:endParaRPr lang="en-US" sz="1700" dirty="0"/>
          </a:p>
          <a:p>
            <a:pPr indent="0" marL="0">
              <a:spcAft>
                <a:spcPts val="600"/>
              </a:spcAft>
              <a:buNone/>
            </a:pPr>
            <a:r>
              <a:rPr lang="en-US" sz="1300" dirty="0">
                <a:solidFill>
                  <a:schemeClr val="bg1"/>
                </a:solidFill>
              </a:rPr>
              <a:t>A bigger cat shifts the buffer frequency by −χ⟨n⟩ (cross-Kerr). Pump, drive and homodyne phase chirp together to follow it.</a:t>
            </a:r>
            <a:endParaRPr lang="en-US" sz="1700" dirty="0"/>
          </a:p>
        </p:txBody>
      </p:sp>
      <p:sp>
        <p:nvSpPr>
          <p:cNvPr id="10" name="card-31"/>
          <p:cNvSpPr/>
          <p:nvPr/>
        </p:nvSpPr>
        <p:spPr>
          <a:xfrm>
            <a:off x="5175504" y="4069080"/>
            <a:ext cx="2139696" cy="2377440"/>
          </a:xfrm>
          <a:prstGeom prst="roundRect">
            <a:avLst>
              <a:gd name="adj" fmla="val 4274"/>
            </a:avLst>
          </a:prstGeom>
          <a:solidFill>
            <a:schemeClr val="tx2"/>
          </a:solidFill>
          <a:ln/>
        </p:spPr>
      </p:sp>
      <p:sp>
        <p:nvSpPr>
          <p:cNvPr id="11" name="step-2"/>
          <p:cNvSpPr txBox="1"/>
          <p:nvPr/>
        </p:nvSpPr>
        <p:spPr>
          <a:xfrm>
            <a:off x="5330952" y="4178808"/>
            <a:ext cx="1828800" cy="2157984"/>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3  Listen</a:t>
            </a:r>
            <a:endParaRPr lang="en-US" sz="1700" dirty="0"/>
          </a:p>
          <a:p>
            <a:pPr indent="0" marL="0">
              <a:spcAft>
                <a:spcPts val="600"/>
              </a:spcAft>
              <a:buNone/>
            </a:pPr>
            <a:r>
              <a:rPr lang="en-US" sz="1300" dirty="0">
                <a:solidFill>
                  <a:schemeClr val="bg1"/>
                </a:solidFill>
              </a:rPr>
              <a:t>Drive returns. A matched filter reads the buffer's ringdown while stabilization pulls the cat back.</a:t>
            </a:r>
            <a:endParaRPr lang="en-US" sz="1700" dirty="0"/>
          </a:p>
        </p:txBody>
      </p:sp>
      <p:sp>
        <p:nvSpPr>
          <p:cNvPr id="12" name="card-32"/>
          <p:cNvSpPr/>
          <p:nvPr/>
        </p:nvSpPr>
        <p:spPr>
          <a:xfrm>
            <a:off x="7589520" y="1371600"/>
            <a:ext cx="4023360" cy="1828800"/>
          </a:xfrm>
          <a:prstGeom prst="roundRect">
            <a:avLst>
              <a:gd name="adj" fmla="val 5000"/>
            </a:avLst>
          </a:prstGeom>
          <a:solidFill>
            <a:schemeClr val="tx2"/>
          </a:solidFill>
          <a:ln/>
        </p:spPr>
      </p:sp>
      <p:sp>
        <p:nvSpPr>
          <p:cNvPr id="13" name="Text 10"/>
          <p:cNvSpPr txBox="1"/>
          <p:nvPr/>
        </p:nvSpPr>
        <p:spPr>
          <a:xfrm>
            <a:off x="7772400" y="1481328"/>
            <a:ext cx="3657600" cy="1609344"/>
          </a:xfrm>
          <a:prstGeom prst="rect">
            <a:avLst/>
          </a:prstGeom>
          <a:noFill/>
          <a:ln/>
        </p:spPr>
        <p:txBody>
          <a:bodyPr wrap="square" lIns="0" tIns="0" rIns="0" bIns="0" rtlCol="0" anchor="ctr"/>
          <a:lstStyle/>
          <a:p>
            <a:pPr indent="0" marL="0">
              <a:spcAft>
                <a:spcPts val="200"/>
              </a:spcAft>
              <a:buNone/>
            </a:pPr>
            <a:r>
              <a:rPr lang="en-US" sz="3400" b="1" dirty="0">
                <a:solidFill>
                  <a:schemeClr val="accent1"/>
                </a:solidFill>
              </a:rPr>
              <a:t>20%</a:t>
            </a:r>
            <a:endParaRPr lang="en-US" sz="3400" dirty="0"/>
          </a:p>
          <a:p>
            <a:pPr indent="0" marL="0">
              <a:spcAft>
                <a:spcPts val="200"/>
              </a:spcAft>
              <a:buNone/>
            </a:pPr>
            <a:r>
              <a:rPr lang="en-US" sz="1300" dirty="0">
                <a:solidFill>
                  <a:schemeClr val="bg2"/>
                </a:solidFill>
              </a:rPr>
              <a:t>less endpoint damage than a matched flat pulse, at equal information (χ/2π = 0.30 MHz)</a:t>
            </a:r>
            <a:endParaRPr lang="en-US" sz="3400" dirty="0"/>
          </a:p>
        </p:txBody>
      </p:sp>
      <p:sp>
        <p:nvSpPr>
          <p:cNvPr id="14" name="card-33"/>
          <p:cNvSpPr/>
          <p:nvPr/>
        </p:nvSpPr>
        <p:spPr>
          <a:xfrm>
            <a:off x="7589520" y="3383280"/>
            <a:ext cx="4023360" cy="1463040"/>
          </a:xfrm>
          <a:prstGeom prst="roundRect">
            <a:avLst>
              <a:gd name="adj" fmla="val 6250"/>
            </a:avLst>
          </a:prstGeom>
          <a:solidFill>
            <a:schemeClr val="tx2"/>
          </a:solidFill>
          <a:ln/>
        </p:spPr>
      </p:sp>
      <p:sp>
        <p:nvSpPr>
          <p:cNvPr id="15" name="Text 12"/>
          <p:cNvSpPr txBox="1"/>
          <p:nvPr/>
        </p:nvSpPr>
        <p:spPr>
          <a:xfrm>
            <a:off x="7772400" y="3493008"/>
            <a:ext cx="3657600" cy="1243584"/>
          </a:xfrm>
          <a:prstGeom prst="rect">
            <a:avLst/>
          </a:prstGeom>
          <a:noFill/>
          <a:ln/>
        </p:spPr>
        <p:txBody>
          <a:bodyPr wrap="square" lIns="0" tIns="0" rIns="0" bIns="0" rtlCol="0" anchor="ctr"/>
          <a:lstStyle/>
          <a:p>
            <a:pPr indent="0" marL="0">
              <a:spcAft>
                <a:spcPts val="200"/>
              </a:spcAft>
              <a:buNone/>
            </a:pPr>
            <a:r>
              <a:rPr lang="en-US" sz="3400" b="1" dirty="0">
                <a:solidFill>
                  <a:schemeClr val="accent1"/>
                </a:solidFill>
              </a:rPr>
              <a:t>89%</a:t>
            </a:r>
            <a:endParaRPr lang="en-US" sz="3400" dirty="0"/>
          </a:p>
          <a:p>
            <a:pPr indent="0" marL="0">
              <a:spcAft>
                <a:spcPts val="200"/>
              </a:spcAft>
              <a:buNone/>
            </a:pPr>
            <a:r>
              <a:rPr lang="en-US" sz="1300" dirty="0">
                <a:solidFill>
                  <a:schemeClr val="bg2"/>
                </a:solidFill>
              </a:rPr>
              <a:t>less extra decay per readout cycle (χ/2π = 0.15 MHz test)</a:t>
            </a:r>
            <a:endParaRPr lang="en-US" sz="3400" dirty="0"/>
          </a:p>
        </p:txBody>
      </p:sp>
      <p:sp>
        <p:nvSpPr>
          <p:cNvPr id="16" name="card-34"/>
          <p:cNvSpPr/>
          <p:nvPr/>
        </p:nvSpPr>
        <p:spPr>
          <a:xfrm>
            <a:off x="7589520" y="5029200"/>
            <a:ext cx="4023360" cy="1417320"/>
          </a:xfrm>
          <a:prstGeom prst="roundRect">
            <a:avLst>
              <a:gd name="adj" fmla="val 6452"/>
            </a:avLst>
          </a:prstGeom>
          <a:solidFill>
            <a:schemeClr val="tx2"/>
          </a:solidFill>
          <a:ln/>
        </p:spPr>
      </p:sp>
      <p:sp>
        <p:nvSpPr>
          <p:cNvPr id="17" name="Text 14"/>
          <p:cNvSpPr txBox="1"/>
          <p:nvPr/>
        </p:nvSpPr>
        <p:spPr>
          <a:xfrm>
            <a:off x="7772400" y="5138928"/>
            <a:ext cx="3657600" cy="1197864"/>
          </a:xfrm>
          <a:prstGeom prst="rect">
            <a:avLst/>
          </a:prstGeom>
          <a:noFill/>
          <a:ln/>
        </p:spPr>
        <p:txBody>
          <a:bodyPr wrap="square" lIns="0" tIns="0" rIns="0" bIns="0" rtlCol="0" anchor="ctr"/>
          <a:lstStyle/>
          <a:p>
            <a:pPr indent="0" marL="0">
              <a:spcAft>
                <a:spcPts val="200"/>
              </a:spcAft>
              <a:buNone/>
            </a:pPr>
            <a:r>
              <a:rPr lang="en-US" sz="3400" b="1" dirty="0">
                <a:solidFill>
                  <a:schemeClr val="accent4"/>
                </a:solidFill>
              </a:rPr>
              <a:t>1.67×</a:t>
            </a:r>
            <a:endParaRPr lang="en-US" sz="3400" dirty="0"/>
          </a:p>
          <a:p>
            <a:pPr indent="0" marL="0">
              <a:spcAft>
                <a:spcPts val="200"/>
              </a:spcAft>
              <a:buNone/>
            </a:pPr>
            <a:r>
              <a:rPr lang="en-US" sz="1300" dirty="0">
                <a:solidFill>
                  <a:schemeClr val="bg2"/>
                </a:solidFill>
              </a:rPr>
              <a:t>active vs idle decay — still above our 1.10 limit</a:t>
            </a:r>
            <a:endParaRPr lang="en-US" sz="34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What worked, and what didn't</a:t>
            </a:r>
            <a:endParaRPr lang="en-US" sz="3200" dirty="0"/>
          </a:p>
        </p:txBody>
      </p:sp>
      <p:sp>
        <p:nvSpPr>
          <p:cNvPr id="4" name="figcard-35"/>
          <p:cNvSpPr/>
          <p:nvPr/>
        </p:nvSpPr>
        <p:spPr>
          <a:xfrm>
            <a:off x="548640" y="1325880"/>
            <a:ext cx="11064240" cy="3023551"/>
          </a:xfrm>
          <a:prstGeom prst="roundRect">
            <a:avLst>
              <a:gd name="adj" fmla="val 3024"/>
            </a:avLst>
          </a:prstGeom>
          <a:solidFill>
            <a:schemeClr val="bg1"/>
          </a:solidFill>
          <a:ln/>
        </p:spPr>
      </p:sp>
      <p:pic>
        <p:nvPicPr>
          <p:cNvPr id="5" name="fig-35" descr="Endpoint damage versus information for each control, extra decay rate, and logical contrast over repeated cycles">    </p:cNvPr>
          <p:cNvPicPr>
            <a:picLocks noChangeAspect="1"/>
          </p:cNvPicPr>
          <p:nvPr/>
        </p:nvPicPr>
        <p:blipFill>
          <a:blip r:embed="rId1"/>
          <a:stretch>
            <a:fillRect/>
          </a:stretch>
        </p:blipFill>
        <p:spPr>
          <a:xfrm>
            <a:off x="640080" y="1417320"/>
            <a:ext cx="10881360" cy="2840671"/>
          </a:xfrm>
          <a:prstGeom prst="rect">
            <a:avLst/>
          </a:prstGeom>
        </p:spPr>
      </p:pic>
      <p:sp>
        <p:nvSpPr>
          <p:cNvPr id="6" name="figcard-36"/>
          <p:cNvSpPr/>
          <p:nvPr/>
        </p:nvSpPr>
        <p:spPr>
          <a:xfrm>
            <a:off x="548640" y="4532311"/>
            <a:ext cx="5120640" cy="1946175"/>
          </a:xfrm>
          <a:prstGeom prst="roundRect">
            <a:avLst>
              <a:gd name="adj" fmla="val 4698"/>
            </a:avLst>
          </a:prstGeom>
          <a:solidFill>
            <a:schemeClr val="bg1"/>
          </a:solidFill>
          <a:ln/>
        </p:spPr>
      </p:sp>
      <p:pic>
        <p:nvPicPr>
          <p:cNvPr id="7" name="fig-36" descr="Final pulse assignment error at 3 and 21 microseconds, and the failed idle-preservation test">    </p:cNvPr>
          <p:cNvPicPr>
            <a:picLocks noChangeAspect="1"/>
          </p:cNvPicPr>
          <p:nvPr/>
        </p:nvPicPr>
        <p:blipFill>
          <a:blip r:embed="rId2"/>
          <a:stretch>
            <a:fillRect/>
          </a:stretch>
        </p:blipFill>
        <p:spPr>
          <a:xfrm>
            <a:off x="640080" y="4623751"/>
            <a:ext cx="4937760" cy="1763295"/>
          </a:xfrm>
          <a:prstGeom prst="rect">
            <a:avLst/>
          </a:prstGeom>
        </p:spPr>
      </p:pic>
      <p:sp>
        <p:nvSpPr>
          <p:cNvPr id="8" name="card-37"/>
          <p:cNvSpPr/>
          <p:nvPr/>
        </p:nvSpPr>
        <p:spPr>
          <a:xfrm>
            <a:off x="5943600" y="4532311"/>
            <a:ext cx="2743200" cy="1914209"/>
          </a:xfrm>
          <a:prstGeom prst="roundRect">
            <a:avLst>
              <a:gd name="adj" fmla="val 4777"/>
            </a:avLst>
          </a:prstGeom>
          <a:solidFill>
            <a:schemeClr val="tx2"/>
          </a:solidFill>
          <a:ln/>
        </p:spPr>
      </p:sp>
      <p:sp>
        <p:nvSpPr>
          <p:cNvPr id="9" name="worked"/>
          <p:cNvSpPr txBox="1"/>
          <p:nvPr/>
        </p:nvSpPr>
        <p:spPr>
          <a:xfrm>
            <a:off x="6108192" y="4642039"/>
            <a:ext cx="2423160" cy="1694753"/>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Worked</a:t>
            </a:r>
            <a:endParaRPr lang="en-US" sz="1800" dirty="0"/>
          </a:p>
          <a:p>
            <a:pPr indent="0" marL="0">
              <a:spcAft>
                <a:spcPts val="600"/>
              </a:spcAft>
              <a:buNone/>
            </a:pPr>
            <a:r>
              <a:rPr lang="en-US" sz="1300" dirty="0">
                <a:solidFill>
                  <a:schemeClr val="bg1"/>
                </a:solidFill>
              </a:rPr>
              <a:t>20% less damage; beats both single-knob versions</a:t>
            </a:r>
            <a:endParaRPr lang="en-US" sz="1800" dirty="0"/>
          </a:p>
          <a:p>
            <a:pPr indent="0" marL="0">
              <a:spcAft>
                <a:spcPts val="600"/>
              </a:spcAft>
              <a:buNone/>
            </a:pPr>
            <a:r>
              <a:rPr lang="en-US" sz="1300" dirty="0">
                <a:solidFill>
                  <a:schemeClr val="bg1"/>
                </a:solidFill>
              </a:rPr>
              <a:t>1.37% error (14/1024) after 21 μs</a:t>
            </a:r>
            <a:endParaRPr lang="en-US" sz="1800" dirty="0"/>
          </a:p>
        </p:txBody>
      </p:sp>
      <p:sp>
        <p:nvSpPr>
          <p:cNvPr id="10" name="card-38"/>
          <p:cNvSpPr/>
          <p:nvPr/>
        </p:nvSpPr>
        <p:spPr>
          <a:xfrm>
            <a:off x="8869680" y="4532311"/>
            <a:ext cx="2743200" cy="1914209"/>
          </a:xfrm>
          <a:prstGeom prst="roundRect">
            <a:avLst>
              <a:gd name="adj" fmla="val 4777"/>
            </a:avLst>
          </a:prstGeom>
          <a:solidFill>
            <a:schemeClr val="tx2"/>
          </a:solidFill>
          <a:ln/>
        </p:spPr>
      </p:sp>
      <p:sp>
        <p:nvSpPr>
          <p:cNvPr id="11" name="didnt"/>
          <p:cNvSpPr txBox="1"/>
          <p:nvPr/>
        </p:nvSpPr>
        <p:spPr>
          <a:xfrm>
            <a:off x="9034272" y="4642039"/>
            <a:ext cx="2423160" cy="1694753"/>
          </a:xfrm>
          <a:prstGeom prst="rect">
            <a:avLst/>
          </a:prstGeom>
          <a:noFill/>
          <a:ln/>
        </p:spPr>
        <p:txBody>
          <a:bodyPr wrap="square" lIns="0" tIns="0" rIns="0" bIns="0" rtlCol="0" anchor="t"/>
          <a:lstStyle/>
          <a:p>
            <a:pPr indent="0" marL="0">
              <a:spcAft>
                <a:spcPts val="600"/>
              </a:spcAft>
              <a:buNone/>
            </a:pPr>
            <a:r>
              <a:rPr lang="en-US" sz="1800" b="1" dirty="0">
                <a:solidFill>
                  <a:schemeClr val="accent4"/>
                </a:solidFill>
              </a:rPr>
              <a:t>Didn't (yet)</a:t>
            </a:r>
            <a:endParaRPr lang="en-US" sz="1800" dirty="0"/>
          </a:p>
          <a:p>
            <a:pPr indent="0" marL="0">
              <a:spcAft>
                <a:spcPts val="600"/>
              </a:spcAft>
              <a:buNone/>
            </a:pPr>
            <a:r>
              <a:rPr lang="en-US" sz="1300" dirty="0">
                <a:solidFill>
                  <a:schemeClr val="bg1"/>
                </a:solidFill>
              </a:rPr>
              <a:t>Not more accurate: flat gets 0.88% (9/1024)</a:t>
            </a:r>
            <a:endParaRPr lang="en-US" sz="1800" dirty="0"/>
          </a:p>
          <a:p>
            <a:pPr indent="0" marL="0">
              <a:spcAft>
                <a:spcPts val="600"/>
              </a:spcAft>
              <a:buNone/>
            </a:pPr>
            <a:r>
              <a:rPr lang="en-US" sz="1300" dirty="0">
                <a:solidFill>
                  <a:schemeClr val="bg1"/>
                </a:solidFill>
              </a:rPr>
              <a:t>Idle protection fails: 1.67× vs 1.10 limit</a:t>
            </a:r>
            <a:endParaRPr lang="en-US" sz="18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lstStyle/>
          <a:p>
            <a:pPr algn="l" indent="0" marL="0">
              <a:buNone/>
            </a:pPr>
            <a:r>
              <a:rPr lang="en-US" sz="1200" b="1" spc="200" kern="0" dirty="0">
                <a:solidFill>
                  <a:schemeClr val="accent1"/>
                </a:solidFill>
              </a:rPr>
              <a:t>BONUS · RESEARCH TOOL</a:t>
            </a:r>
            <a:endParaRPr lang="en-US" sz="12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200" b="1" dirty="0">
                <a:solidFill>
                  <a:schemeClr val="bg1"/>
                </a:solidFill>
              </a:rPr>
              <a:t>Meet Watchcat</a:t>
            </a:r>
            <a:endParaRPr lang="en-US" sz="3200" dirty="0"/>
          </a:p>
        </p:txBody>
      </p:sp>
      <p:sp>
        <p:nvSpPr>
          <p:cNvPr id="4" name="card-39"/>
          <p:cNvSpPr/>
          <p:nvPr/>
        </p:nvSpPr>
        <p:spPr>
          <a:xfrm>
            <a:off x="548640" y="1371600"/>
            <a:ext cx="4023360" cy="5074920"/>
          </a:xfrm>
          <a:prstGeom prst="roundRect">
            <a:avLst>
              <a:gd name="adj" fmla="val 2273"/>
            </a:avLst>
          </a:prstGeom>
          <a:solidFill>
            <a:schemeClr val="bg1"/>
          </a:solidFill>
          <a:ln/>
        </p:spPr>
      </p:sp>
      <p:pic>
        <p:nvPicPr>
          <p:cNvPr id="5" name="watchcat" descr="Watchcat, a pixel-art detective cat mascot">    </p:cNvPr>
          <p:cNvPicPr>
            <a:picLocks noChangeAspect="1"/>
          </p:cNvPicPr>
          <p:nvPr/>
        </p:nvPicPr>
        <p:blipFill>
          <a:blip r:embed="rId1"/>
          <a:stretch>
            <a:fillRect/>
          </a:stretch>
        </p:blipFill>
        <p:spPr>
          <a:xfrm>
            <a:off x="777240" y="1691640"/>
            <a:ext cx="3566160" cy="3566160"/>
          </a:xfrm>
          <a:prstGeom prst="rect">
            <a:avLst/>
          </a:prstGeom>
        </p:spPr>
      </p:pic>
      <p:sp>
        <p:nvSpPr>
          <p:cNvPr id="6" name="watchcat-caption"/>
          <p:cNvSpPr txBox="1"/>
          <p:nvPr/>
        </p:nvSpPr>
        <p:spPr>
          <a:xfrm>
            <a:off x="777240" y="5440680"/>
            <a:ext cx="3566160" cy="731520"/>
          </a:xfrm>
          <a:prstGeom prst="rect">
            <a:avLst/>
          </a:prstGeom>
          <a:noFill/>
          <a:ln/>
        </p:spPr>
        <p:txBody>
          <a:bodyPr wrap="square" lIns="0" tIns="0" rIns="0" bIns="0" rtlCol="0" anchor="ctr"/>
          <a:lstStyle/>
          <a:p>
            <a:pPr algn="ctr" indent="0" marL="0">
              <a:buNone/>
            </a:pPr>
            <a:r>
              <a:rPr lang="en-US" sz="1300" dirty="0">
                <a:solidFill>
                  <a:schemeClr val="tx1"/>
                </a:solidFill>
              </a:rPr>
              <a:t>Inspired by Task 1.2, not the main submission</a:t>
            </a:r>
            <a:endParaRPr lang="en-US" sz="1300" dirty="0"/>
          </a:p>
        </p:txBody>
      </p:sp>
      <p:sp>
        <p:nvSpPr>
          <p:cNvPr id="7" name="card-40"/>
          <p:cNvSpPr/>
          <p:nvPr/>
        </p:nvSpPr>
        <p:spPr>
          <a:xfrm>
            <a:off x="4846320" y="1371600"/>
            <a:ext cx="6766560" cy="1563624"/>
          </a:xfrm>
          <a:prstGeom prst="roundRect">
            <a:avLst>
              <a:gd name="adj" fmla="val 5848"/>
            </a:avLst>
          </a:prstGeom>
          <a:solidFill>
            <a:schemeClr val="tx2"/>
          </a:solidFill>
          <a:ln/>
        </p:spPr>
      </p:sp>
      <p:sp>
        <p:nvSpPr>
          <p:cNvPr id="8" name="wc-dot-0"/>
          <p:cNvSpPr/>
          <p:nvPr/>
        </p:nvSpPr>
        <p:spPr>
          <a:xfrm>
            <a:off x="5074920" y="1828800"/>
            <a:ext cx="640080" cy="640080"/>
          </a:xfrm>
          <a:prstGeom prst="ellipse">
            <a:avLst/>
          </a:prstGeom>
          <a:solidFill>
            <a:schemeClr val="accent1"/>
          </a:solidFill>
          <a:ln/>
        </p:spPr>
      </p:sp>
      <p:sp>
        <p:nvSpPr>
          <p:cNvPr id="9" name="wc-num-0"/>
          <p:cNvSpPr txBox="1"/>
          <p:nvPr/>
        </p:nvSpPr>
        <p:spPr>
          <a:xfrm>
            <a:off x="5074920" y="1828800"/>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10" name="wc-row-0"/>
          <p:cNvSpPr txBox="1"/>
          <p:nvPr/>
        </p:nvSpPr>
        <p:spPr>
          <a:xfrm>
            <a:off x="5943600" y="1481328"/>
            <a:ext cx="5486400" cy="1344168"/>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Checks the numerics</a:t>
            </a:r>
            <a:endParaRPr lang="en-US" sz="1800" dirty="0"/>
          </a:p>
          <a:p>
            <a:pPr indent="0" marL="0">
              <a:spcAft>
                <a:spcPts val="400"/>
              </a:spcAft>
              <a:buNone/>
            </a:pPr>
            <a:r>
              <a:rPr lang="en-US" sz="1400" dirty="0">
                <a:solidFill>
                  <a:schemeClr val="bg2"/>
                </a:solidFill>
              </a:rPr>
              <a:t>Fock-edge population, trace drift, observable convergence and the α² target, across the whole trace.</a:t>
            </a:r>
            <a:endParaRPr lang="en-US" sz="1800" dirty="0"/>
          </a:p>
        </p:txBody>
      </p:sp>
      <p:sp>
        <p:nvSpPr>
          <p:cNvPr id="11" name="card-41"/>
          <p:cNvSpPr/>
          <p:nvPr/>
        </p:nvSpPr>
        <p:spPr>
          <a:xfrm>
            <a:off x="4846320" y="3127248"/>
            <a:ext cx="6766560" cy="1563624"/>
          </a:xfrm>
          <a:prstGeom prst="roundRect">
            <a:avLst>
              <a:gd name="adj" fmla="val 5848"/>
            </a:avLst>
          </a:prstGeom>
          <a:solidFill>
            <a:schemeClr val="tx2"/>
          </a:solidFill>
          <a:ln/>
        </p:spPr>
      </p:sp>
      <p:sp>
        <p:nvSpPr>
          <p:cNvPr id="12" name="wc-dot-1"/>
          <p:cNvSpPr/>
          <p:nvPr/>
        </p:nvSpPr>
        <p:spPr>
          <a:xfrm>
            <a:off x="5074920" y="3584448"/>
            <a:ext cx="640080" cy="640080"/>
          </a:xfrm>
          <a:prstGeom prst="ellipse">
            <a:avLst/>
          </a:prstGeom>
          <a:solidFill>
            <a:schemeClr val="accent2"/>
          </a:solidFill>
          <a:ln/>
        </p:spPr>
      </p:sp>
      <p:sp>
        <p:nvSpPr>
          <p:cNvPr id="13" name="wc-num-1"/>
          <p:cNvSpPr txBox="1"/>
          <p:nvPr/>
        </p:nvSpPr>
        <p:spPr>
          <a:xfrm>
            <a:off x="5074920" y="3584448"/>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4" name="wc-row-1"/>
          <p:cNvSpPr txBox="1"/>
          <p:nvPr/>
        </p:nvSpPr>
        <p:spPr>
          <a:xfrm>
            <a:off x="5943600" y="3236976"/>
            <a:ext cx="5486400" cy="1344168"/>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Worries when it should</a:t>
            </a:r>
            <a:endParaRPr lang="en-US" sz="1800" dirty="0"/>
          </a:p>
          <a:p>
            <a:pPr indent="0" marL="0">
              <a:spcAft>
                <a:spcPts val="400"/>
              </a:spcAft>
              <a:buNone/>
            </a:pPr>
            <a:r>
              <a:rPr lang="en-US" sz="1400" dirty="0">
                <a:solidFill>
                  <a:schemeClr val="bg2"/>
                </a:solidFill>
              </a:rPr>
              <a:t>On our run it flags the reference as not yet safely truncated and refuses a cheaper cutoff.</a:t>
            </a:r>
            <a:endParaRPr lang="en-US" sz="1800" dirty="0"/>
          </a:p>
        </p:txBody>
      </p:sp>
      <p:sp>
        <p:nvSpPr>
          <p:cNvPr id="15" name="card-42"/>
          <p:cNvSpPr/>
          <p:nvPr/>
        </p:nvSpPr>
        <p:spPr>
          <a:xfrm>
            <a:off x="4846320" y="4882896"/>
            <a:ext cx="6766560" cy="1563624"/>
          </a:xfrm>
          <a:prstGeom prst="roundRect">
            <a:avLst>
              <a:gd name="adj" fmla="val 5848"/>
            </a:avLst>
          </a:prstGeom>
          <a:solidFill>
            <a:schemeClr val="tx2"/>
          </a:solidFill>
          <a:ln/>
        </p:spPr>
      </p:sp>
      <p:sp>
        <p:nvSpPr>
          <p:cNvPr id="16" name="wc-dot-2"/>
          <p:cNvSpPr/>
          <p:nvPr/>
        </p:nvSpPr>
        <p:spPr>
          <a:xfrm>
            <a:off x="5074920" y="5340096"/>
            <a:ext cx="640080" cy="640080"/>
          </a:xfrm>
          <a:prstGeom prst="ellipse">
            <a:avLst/>
          </a:prstGeom>
          <a:solidFill>
            <a:schemeClr val="accent1"/>
          </a:solidFill>
          <a:ln/>
        </p:spPr>
      </p:sp>
      <p:sp>
        <p:nvSpPr>
          <p:cNvPr id="17" name="wc-num-2"/>
          <p:cNvSpPr txBox="1"/>
          <p:nvPr/>
        </p:nvSpPr>
        <p:spPr>
          <a:xfrm>
            <a:off x="5074920" y="5340096"/>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8" name="wc-row-2"/>
          <p:cNvSpPr txBox="1"/>
          <p:nvPr/>
        </p:nvSpPr>
        <p:spPr>
          <a:xfrm>
            <a:off x="5943600" y="4992624"/>
            <a:ext cx="5486400" cy="1344168"/>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Lives in VS Code</a:t>
            </a:r>
            <a:endParaRPr lang="en-US" sz="1800" dirty="0"/>
          </a:p>
          <a:p>
            <a:pPr indent="0" marL="0">
              <a:spcAft>
                <a:spcPts val="400"/>
              </a:spcAft>
              <a:buNone/>
            </a:pPr>
            <a:r>
              <a:rPr lang="en-US" sz="1400" dirty="0">
                <a:solidFill>
                  <a:schemeClr val="bg2"/>
                </a:solidFill>
              </a:rPr>
              <a:t>A status-bar cat and popup; Run sweep calls the real Dynamiqs pipeline, not a mock.</a:t>
            </a:r>
            <a:endParaRPr lang="en-US" sz="18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892B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t Readout">
  <a:themeElements>
    <a:clrScheme name="Cat Readout">
      <a:dk1>
        <a:srgbClr val="0B1430"/>
      </a:dk1>
      <a:lt1>
        <a:srgbClr val="FFFFFF"/>
      </a:lt1>
      <a:dk2>
        <a:srgbClr val="16224F"/>
      </a:dk2>
      <a:lt2>
        <a:srgbClr val="C9D3EA"/>
      </a:lt2>
      <a:accent1>
        <a:srgbClr val="2EE6C9"/>
      </a:accent1>
      <a:accent2>
        <a:srgbClr val="B9A7F5"/>
      </a:accent2>
      <a:accent3>
        <a:srgbClr val="F2A65A"/>
      </a:accent3>
      <a:accent4>
        <a:srgbClr val="FF7A8A"/>
      </a:accent4>
      <a:accent5>
        <a:srgbClr val="7FB3FF"/>
      </a:accent5>
      <a:accent6>
        <a:srgbClr val="8892B0"/>
      </a:accent6>
      <a:hlink>
        <a:srgbClr val="2EE6C9"/>
      </a:hlink>
      <a:folHlink>
        <a:srgbClr val="B9A7F5"/>
      </a:folHlink>
    </a:clrScheme>
    <a:fontScheme name="Cat Readou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Cat Stabilization to Quantum Readout</dc:title>
  <dc:subject>PptxGenJS Presentation</dc:subject>
  <dc:creator>Simran Malik</dc:creator>
  <cp:lastModifiedBy>Simran Malik</cp:lastModifiedBy>
  <cp:revision>1</cp:revision>
  <dcterms:created xsi:type="dcterms:W3CDTF">2026-10-25T14:35:20Z</dcterms:created>
  <dcterms:modified xsi:type="dcterms:W3CDTF">2026-10-25T14:35:20Z</dcterms:modified>
</cp:coreProperties>
</file>